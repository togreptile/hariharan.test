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20"/>
  </p:notesMasterIdLst>
  <p:sldIdLst>
    <p:sldId id="282" r:id="rId2"/>
    <p:sldId id="285" r:id="rId3"/>
    <p:sldId id="257" r:id="rId4"/>
    <p:sldId id="258" r:id="rId5"/>
    <p:sldId id="278" r:id="rId6"/>
    <p:sldId id="279" r:id="rId7"/>
    <p:sldId id="280" r:id="rId8"/>
    <p:sldId id="281" r:id="rId9"/>
    <p:sldId id="260" r:id="rId10"/>
    <p:sldId id="261" r:id="rId11"/>
    <p:sldId id="267" r:id="rId12"/>
    <p:sldId id="266" r:id="rId13"/>
    <p:sldId id="268" r:id="rId14"/>
    <p:sldId id="270" r:id="rId15"/>
    <p:sldId id="276" r:id="rId16"/>
    <p:sldId id="277" r:id="rId17"/>
    <p:sldId id="283" r:id="rId18"/>
    <p:sldId id="28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Places where bluejack occures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Public transportation</c:v>
                </c:pt>
                <c:pt idx="1">
                  <c:v>Stores ans shopping malls</c:v>
                </c:pt>
                <c:pt idx="2">
                  <c:v>Restaurants</c:v>
                </c:pt>
                <c:pt idx="3">
                  <c:v>Bars</c:v>
                </c:pt>
                <c:pt idx="4">
                  <c:v>Cafés</c:v>
                </c:pt>
                <c:pt idx="5">
                  <c:v>Home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23.4</c:v>
                </c:pt>
                <c:pt idx="1">
                  <c:v>32.1</c:v>
                </c:pt>
                <c:pt idx="2">
                  <c:v>9.8000000000000007</c:v>
                </c:pt>
                <c:pt idx="3">
                  <c:v>11.2</c:v>
                </c:pt>
                <c:pt idx="4">
                  <c:v>7.3</c:v>
                </c:pt>
                <c:pt idx="5">
                  <c:v>0.70000000000000062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F-4F7A-A387-F612604DF0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9195392"/>
        <c:axId val="39196928"/>
        <c:axId val="0"/>
      </c:bar3DChart>
      <c:catAx>
        <c:axId val="3919539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39196928"/>
        <c:crosses val="autoZero"/>
        <c:auto val="1"/>
        <c:lblAlgn val="ctr"/>
        <c:lblOffset val="100"/>
        <c:noMultiLvlLbl val="0"/>
      </c:catAx>
      <c:valAx>
        <c:axId val="3919692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3919539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C7092C9-39E5-4751-8C24-22C2F415AC37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AB3AC6F-8E89-4F23-B63B-6822FFAF3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8DDF294-755D-4E01-AE65-C38D46C7DCD3}" type="slidenum">
              <a:rPr lang="en-US" smtClean="0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6200000">
            <a:off x="7553325" y="5254626"/>
            <a:ext cx="1893887" cy="1293812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/>
          <a:lstStyle>
            <a:lvl1pPr algn="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1863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pPr>
              <a:defRPr/>
            </a:pPr>
            <a:fld id="{615F76E8-DDAF-48FA-BB5C-A89F3B087AE0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49913"/>
            <a:ext cx="5791200" cy="365125"/>
          </a:xfrm>
        </p:spPr>
        <p:txBody>
          <a:bodyPr tIns="0" bIns="0"/>
          <a:lstStyle>
            <a:lvl1pPr algn="r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1525" y="5753100"/>
            <a:ext cx="503238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15725B5-DE1E-4436-A8A0-8678FDAAA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075" y="6480175"/>
            <a:ext cx="2133600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B4F24-5862-46A4-87C5-05E5D7AE0969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1763"/>
            <a:ext cx="4259263" cy="300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7A35DE-0200-4B52-B30E-FEEE44D5C5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flipV="1">
            <a:off x="6350" y="6350"/>
            <a:ext cx="9131300" cy="6837363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Isosceles Triangle 4"/>
          <p:cNvSpPr/>
          <p:nvPr/>
        </p:nvSpPr>
        <p:spPr>
          <a:xfrm rot="5400000" flipV="1">
            <a:off x="7553325" y="309563"/>
            <a:ext cx="1893888" cy="1293812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rot="10800000">
            <a:off x="6469063" y="9525"/>
            <a:ext cx="2673350" cy="190023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0" y="6350"/>
            <a:ext cx="9137650" cy="684530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/>
          <a:lstStyle>
            <a:lvl1pPr marL="0" algn="l">
              <a:buNone/>
              <a:defRPr sz="3600" b="1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956425" y="64770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D0034-9460-4D1F-8D32-A7B06A0C5038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5" y="6481763"/>
            <a:ext cx="4260850" cy="300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0263" y="809625"/>
            <a:ext cx="503237" cy="3000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D4AB4-639E-4653-9BAE-18A993B992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DEED6-7617-402F-BA01-E8D13775E1EF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9398A-98FD-4282-89D8-FD720DBF2A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075" y="6481763"/>
            <a:ext cx="2130425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EF717-1501-4C1C-A474-1B6ABB7B9E62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1763"/>
            <a:ext cx="4260850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838" y="6483350"/>
            <a:ext cx="503237" cy="3016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1904466D-3303-4776-AA5F-841ACC124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173F-24B7-4CA3-9BD6-8F2BBA2E9BDB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4467E-5A59-4679-8A8C-1E9FAABF5E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55B90-0D38-482A-A67D-818F361F2BD3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ED8C3-25D8-4E0E-83AD-ABF847D2DD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563" y="6556375"/>
            <a:ext cx="2133600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44F2F0C8-0F38-43AE-A82E-A1A14381E551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063" y="6556375"/>
            <a:ext cx="5143500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5" y="6556375"/>
            <a:ext cx="503238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F10EEDF7-3311-4AD1-A1D2-E2DA772C37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700" y="6556375"/>
            <a:ext cx="2101850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822FC6A2-71C5-46B6-B87E-B2072DBC6816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69988" y="6557963"/>
            <a:ext cx="4948237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6900" y="6556375"/>
            <a:ext cx="366713" cy="301625"/>
          </a:xfrm>
        </p:spPr>
        <p:txBody>
          <a:bodyPr/>
          <a:lstStyle>
            <a:lvl1pPr algn="ctr">
              <a:defRPr sz="900"/>
            </a:lvl1pPr>
          </a:lstStyle>
          <a:p>
            <a:pPr>
              <a:defRPr/>
            </a:pPr>
            <a:fld id="{E487FA28-2D11-427F-8188-E22ED292D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C90C8-2BFA-45C7-A48D-2F781114B7CF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7CD68-EFB2-45A3-ADFE-BF4C3B1084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5C70A-ABE7-4C3A-80EB-BA47888E3E20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00CAE-AE32-47C3-B5C6-D472C5E7E5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6350" y="14288"/>
            <a:ext cx="9131300" cy="6837362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350"/>
            <a:ext cx="9137650" cy="684530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9063" y="4948238"/>
            <a:ext cx="2673350" cy="1900237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8288"/>
            <a:ext cx="8229600" cy="1398587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882775"/>
            <a:ext cx="8229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075" y="6481763"/>
            <a:ext cx="2133600" cy="3016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13B0586-F22D-4319-AA54-9A57AEF7E47C}" type="datetimeFigureOut">
              <a:rPr lang="en-US"/>
              <a:pPr>
                <a:defRPr/>
              </a:pPr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763"/>
            <a:ext cx="4259263" cy="3016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838" y="6481763"/>
            <a:ext cx="503237" cy="3016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1531B27-D7A8-4845-89DF-8B987F12DB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897" r:id="rId4"/>
    <p:sldLayoutId id="2147483905" r:id="rId5"/>
    <p:sldLayoutId id="2147483898" r:id="rId6"/>
    <p:sldLayoutId id="2147483899" r:id="rId7"/>
    <p:sldLayoutId id="2147483906" r:id="rId8"/>
    <p:sldLayoutId id="2147483907" r:id="rId9"/>
    <p:sldLayoutId id="2147483900" r:id="rId10"/>
    <p:sldLayoutId id="2147483901" r:id="rId11"/>
  </p:sldLayoutIdLst>
  <p:txStyles>
    <p:titleStyle>
      <a:lvl1pPr marL="484188" indent="-484188" algn="l" rtl="0" eaLnBrk="0" fontAlgn="base" hangingPunct="0">
        <a:spcBef>
          <a:spcPct val="0"/>
        </a:spcBef>
        <a:spcAft>
          <a:spcPct val="0"/>
        </a:spcAft>
        <a:defRPr sz="4200" kern="1200">
          <a:ln w="6350">
            <a:solidFill>
              <a:schemeClr val="accent1">
                <a:shade val="43000"/>
              </a:schemeClr>
            </a:solidFill>
          </a:ln>
          <a:solidFill>
            <a:srgbClr val="FF5C9C"/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2pPr>
      <a:lvl3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3pPr>
      <a:lvl4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4pPr>
      <a:lvl5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5pPr>
      <a:lvl6pPr marL="9413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6pPr>
      <a:lvl7pPr marL="13985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7pPr>
      <a:lvl8pPr marL="18557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8pPr>
      <a:lvl9pPr marL="23129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9pPr>
    </p:titleStyle>
    <p:bodyStyle>
      <a:lvl1pPr marL="447675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325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Verdana" pitchFamily="34" charset="0"/>
        <a:buChar char="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49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095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09550" algn="l" rtl="0" eaLnBrk="0" fontAlgn="base" hangingPunct="0">
        <a:spcBef>
          <a:spcPct val="20000"/>
        </a:spcBef>
        <a:spcAft>
          <a:spcPct val="0"/>
        </a:spcAft>
        <a:buClr>
          <a:srgbClr val="FF90B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kipedia.com/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tudymafia.org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76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457199" y="923730"/>
            <a:ext cx="8733453" cy="1133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endParaRPr lang="en-US" sz="6000" dirty="0">
              <a:solidFill>
                <a:schemeClr val="accent1">
                  <a:lumMod val="60000"/>
                  <a:lumOff val="40000"/>
                </a:schemeClr>
              </a:solidFill>
              <a:latin typeface="Tahoma" pitchFamily="34" charset="0"/>
            </a:endParaRPr>
          </a:p>
        </p:txBody>
      </p:sp>
      <p:sp>
        <p:nvSpPr>
          <p:cNvPr id="8197" name="Text Box 9"/>
          <p:cNvSpPr txBox="1">
            <a:spLocks noChangeArrowheads="1"/>
          </p:cNvSpPr>
          <p:nvPr/>
        </p:nvSpPr>
        <p:spPr bwMode="auto">
          <a:xfrm>
            <a:off x="533400" y="4876800"/>
            <a:ext cx="8610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 b="1" dirty="0"/>
              <a:t>			       Submitted By:</a:t>
            </a:r>
          </a:p>
          <a:p>
            <a:pPr eaLnBrk="0" hangingPunct="0"/>
            <a:r>
              <a:rPr lang="en-US" sz="2400" b="1" dirty="0"/>
              <a:t>                               S.SRINIDHI R.M. RAMYA</a:t>
            </a:r>
          </a:p>
        </p:txBody>
      </p:sp>
      <p:sp>
        <p:nvSpPr>
          <p:cNvPr id="2054" name="Rectangle 8"/>
          <p:cNvSpPr>
            <a:spLocks noChangeArrowheads="1"/>
          </p:cNvSpPr>
          <p:nvPr/>
        </p:nvSpPr>
        <p:spPr bwMode="auto">
          <a:xfrm>
            <a:off x="1752600" y="44014"/>
            <a:ext cx="48768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endParaRPr lang="en-US" sz="4400" b="1" dirty="0">
              <a:solidFill>
                <a:schemeClr val="tx1">
                  <a:lumMod val="95000"/>
                </a:schemeClr>
              </a:solidFill>
            </a:endParaRPr>
          </a:p>
          <a:p>
            <a:pPr algn="ctr" eaLnBrk="0" hangingPunct="0">
              <a:defRPr/>
            </a:pPr>
            <a:r>
              <a:rPr lang="en-US" sz="44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Bluejacking</a:t>
            </a:r>
            <a:endParaRPr lang="en-US" sz="4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199" name="Picture 12" descr="http://upload.wikimedia.org/wikipedia/en/thumb/a/a4/BluetoothFileExchange_icon.png/300px-BluetoothFileExchange_ic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1524000"/>
            <a:ext cx="3429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400" b="1" dirty="0" err="1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Bluejacking</a:t>
            </a:r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Technology</a:t>
            </a: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Architecture</a:t>
            </a: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Technical Features</a:t>
            </a: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How to </a:t>
            </a:r>
            <a:r>
              <a:rPr lang="en-US" sz="2400" b="1" dirty="0" err="1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Bluejack</a:t>
            </a:r>
            <a:endParaRPr lang="en-US" sz="2400" b="1" dirty="0">
              <a:solidFill>
                <a:schemeClr val="accent1">
                  <a:tint val="83000"/>
                  <a:satMod val="1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Usage of </a:t>
            </a:r>
            <a:r>
              <a:rPr lang="en-US" sz="2400" b="1" dirty="0" err="1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bluejacking</a:t>
            </a:r>
            <a:endParaRPr lang="en-US" sz="2400" b="1" dirty="0">
              <a:solidFill>
                <a:schemeClr val="accent1">
                  <a:tint val="83000"/>
                  <a:satMod val="1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Related concepts</a:t>
            </a: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Future aspects</a:t>
            </a: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400" b="1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80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 rtlCol="0">
            <a:normAutofit lnSpcReduction="10000"/>
          </a:bodyPr>
          <a:lstStyle/>
          <a:p>
            <a:pPr marL="448056" indent="-384048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Bluejacking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0" lvl="1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Sending of unsolicited messages over Bluetooth to Bluetooth-enabled devices such as mobile phones, PDAs or laptop computers via the OBEX protocol. </a:t>
            </a:r>
          </a:p>
          <a:p>
            <a:pPr marL="448056" indent="-384048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Origin </a:t>
            </a:r>
          </a:p>
          <a:p>
            <a:pPr marL="822960" lvl="1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Started after a Malaysian IT consultant named “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Ajack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 posted a comment on a mobile phone forum.  </a:t>
            </a:r>
          </a:p>
          <a:p>
            <a:pPr marL="448056" indent="-384048"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pic>
        <p:nvPicPr>
          <p:cNvPr id="9220" name="Picture 11" descr="https://encrypted-tbn2.gstatic.com/images?q=tbn:ANd9GcScWQXRe8LV1M5Wgnjg3alpyOMTpoLZitnFzzHDWbk2Poh1v-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533400"/>
            <a:ext cx="236220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533400" y="1066800"/>
            <a:ext cx="8229600" cy="1143000"/>
          </a:xfrm>
        </p:spPr>
        <p:txBody>
          <a:bodyPr rtlCol="0">
            <a:normAutofit fontScale="90000"/>
          </a:bodyPr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600" dirty="0" err="1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Bluejacking</a:t>
            </a:r>
            <a:r>
              <a:rPr lang="en-US" sz="66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Technology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2468563"/>
            <a:ext cx="8229600" cy="4389437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Bluetooth technology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vCard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OBEX protocol</a:t>
            </a:r>
          </a:p>
        </p:txBody>
      </p:sp>
      <p:pic>
        <p:nvPicPr>
          <p:cNvPr id="10244" name="Picture 5" descr="https://encrypted-tbn0.gstatic.com/images?q=tbn:ANd9GcS1ZA3PSLC0cDsk1GEc4fJ92H_DUAKKq5eooRrFbBiyN_ohEvk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43425" y="2438400"/>
            <a:ext cx="4448175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0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 rtlCol="0">
            <a:normAutofit fontScale="92500" lnSpcReduction="20000"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b="1" u="sng" dirty="0"/>
              <a:t>Piconet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sz="2800" b="1" u="sng" dirty="0"/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devices find each other and form a network called “ </a:t>
            </a:r>
            <a:r>
              <a:rPr lang="en-US" sz="2800" dirty="0">
                <a:solidFill>
                  <a:srgbClr val="FF33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piconet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” spontaneously.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piconet is a basic unit with up to 8 nodes, one of which is a master and up to seven active slave nodes within a maximum distance of 10 meters.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All communication between master and slaves.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Piconet is a centralized TDM system.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Master controls clock and decides the time slot for the device.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a piconet , there can be up to 255 parked nodes.</a:t>
            </a:r>
          </a:p>
          <a:p>
            <a:pPr marL="274320" indent="-274320" algn="just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SzPct val="150000"/>
              <a:buFont typeface="Arial" pitchFamily="34" charset="0"/>
              <a:buChar char="•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Master switches to low power state and parked node wait for beacon from master.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12292" name="Picture 5" descr="http://upload.wikimedia.org/wikipedia/en/7/7a/Azerbaijan_Architecture_Construction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28600"/>
            <a:ext cx="187642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4800" y="990600"/>
            <a:ext cx="8534400" cy="53340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54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Technical Features</a:t>
            </a:r>
          </a:p>
        </p:txBody>
      </p:sp>
      <p:graphicFrame>
        <p:nvGraphicFramePr>
          <p:cNvPr id="4" name="Group 99"/>
          <p:cNvGraphicFramePr>
            <a:graphicFrameLocks/>
          </p:cNvGraphicFramePr>
          <p:nvPr/>
        </p:nvGraphicFramePr>
        <p:xfrm>
          <a:off x="381000" y="1447800"/>
          <a:ext cx="8305800" cy="5181600"/>
        </p:xfrm>
        <a:graphic>
          <a:graphicData uri="http://schemas.openxmlformats.org/drawingml/2006/table">
            <a:tbl>
              <a:tblPr/>
              <a:tblGrid>
                <a:gridCol w="382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5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Connection Type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Spread Spectrum (Frequency Hopping) &amp; Time Division Duplex (1600 hops/sec)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5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Spectrum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2.4 GHz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ISM Open Band (79 MHz of spectrum = 79 channels)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Modulation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Gaussian Frequency Shift Keying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Transmission Power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mw – 100 mw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Data Rate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Mbps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Range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 ft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Supported Stations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devices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Data Security –Authentication Key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 bit key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Data Security –Encryption Key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8-128 bits (configurable)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Module size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 x 9 mm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4374" name="Picture 40" descr="http://3.bp.blogspot.com/-bUWZMs2Da_w/UAysCu51clI/AAAAAAAAAMU/FHRuHJJOuAA/s1600/Cap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25" y="47625"/>
            <a:ext cx="15144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Classification 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itchFamily="18" charset="0"/>
              </a:rPr>
              <a:t>Classification of devices on the basis of Power dissipated &amp; corresponding maximum Range.</a:t>
            </a:r>
          </a:p>
          <a:p>
            <a:pPr eaLnBrk="1" hangingPunct="1"/>
            <a:endParaRPr lang="en-US"/>
          </a:p>
        </p:txBody>
      </p:sp>
      <p:graphicFrame>
        <p:nvGraphicFramePr>
          <p:cNvPr id="4" name="Group 30"/>
          <p:cNvGraphicFramePr>
            <a:graphicFrameLocks/>
          </p:cNvGraphicFramePr>
          <p:nvPr/>
        </p:nvGraphicFramePr>
        <p:xfrm>
          <a:off x="1524000" y="3276600"/>
          <a:ext cx="5822950" cy="1981202"/>
        </p:xfrm>
        <a:graphic>
          <a:graphicData uri="http://schemas.openxmlformats.org/drawingml/2006/table">
            <a:tbl>
              <a:tblPr/>
              <a:tblGrid>
                <a:gridCol w="194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POWER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RANGE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 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 dBm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 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 II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0-4 dBm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 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 III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 dBm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110000"/>
                        <a:buFont typeface="Times New Roman" pitchFamily="18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 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0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How to </a:t>
            </a:r>
            <a:r>
              <a:rPr lang="en-US" sz="6000" dirty="0" err="1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Bluejack</a:t>
            </a:r>
            <a:endParaRPr lang="en-US" sz="6000" dirty="0">
              <a:solidFill>
                <a:schemeClr val="accent1">
                  <a:tint val="83000"/>
                  <a:satMod val="1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 rtlCol="0">
            <a:normAutofit fontScale="92500" lnSpcReduction="20000"/>
          </a:bodyPr>
          <a:lstStyle/>
          <a:p>
            <a:pPr marL="448056" indent="-384048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Mobile</a:t>
            </a:r>
          </a:p>
          <a:p>
            <a:pPr marL="448056" indent="-384048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Personal computers</a:t>
            </a:r>
          </a:p>
          <a:p>
            <a:pPr marL="448056" indent="-384048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Software tools</a:t>
            </a:r>
          </a:p>
          <a:p>
            <a:pPr marL="822960" lvl="1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Bluespam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106424" lvl="2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Searches for all discoverable Bluetooth devices and sends a file to them (spam's them) if they support OBEX. </a:t>
            </a:r>
          </a:p>
          <a:p>
            <a:pPr marL="1106424" lvl="2" algn="just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By default a small text will be send.</a:t>
            </a:r>
          </a:p>
          <a:p>
            <a:pPr marL="1106424" lvl="2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dirty="0"/>
          </a:p>
          <a:p>
            <a:pPr marL="822960" lvl="1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dirty="0"/>
          </a:p>
        </p:txBody>
      </p:sp>
      <p:sp>
        <p:nvSpPr>
          <p:cNvPr id="16388" name="AutoShape 5" descr="data:image/jpeg;base64,/9j/4AAQSkZJRgABAQAAAQABAAD/2wCEAAkGBhASEBUQEBIPDxAPEA8PEA8PEA8PDw8PFBAVFBQQFBQXHCYeFxkjGRQUHzAgIycpLCwuFR4xNTAqNSYrLCkBCQoKDgwOFw8PFykcHBgpKSkpKSkpKSkpKSksKSkpKSksKSkpKSkpKSkpKSkpKSksKSksLDUpKSkpLCkpKSkpKf/AABEIANMA7wMBIgACEQEDEQH/xAAcAAACAgMBAQAAAAAAAAAAAAAEBQMGAQIHAAj/xAA7EAABBAECBQIDBgQFBAMAAAABAAIDBBEFIQYSMUFRE2EicYEHFDJCUpEzobHRFiNywfAVU2LhJIKi/8QAGgEAAwEBAQEAAAAAAAAAAAAAAQIDBAAFBv/EACcRAAICAgIBAwMFAAAAAAAAAAABAhEDIRIxBBNBUSJhcRRCUoGx/9oADAMBAAIRAxEAPwBA+JDPjRzCsvgyvorMwtC3AUkkGFq0JrAEV5E70+dIWBMakiWSCW+tJst5jsllGz2R8j9lCtjgM8mCpq06CuuQ9S1g4T1oWy1QyphHMkFexsjYbPw+4WacRyy1J9kQ6TZJqVhGeusrjsez00n9QpYH7pdNPuiK0yetAsNnk2Vfvv8AiTaeXZIrD8uVsSFZNXRodsgoCp5JMBVZxpLNgqXSoTLLj8rdz/ZJbtzfA6k4A8lXTh+h6UIz+J3xO+ZWfK+KCgqxsEkuyYTW7Lskcp5jnt2UMa9xmBuZ3UZjRnp5XjErWKL3xqF8aYPiUToUUwC90S0MSOdGoXNTo4o8lYhbRFN31ULLQPUKnOjqIjXDggpqRCYxAg7o9kDXjdOpi0VxjEVEzCYWNLI3AUUcPZOppgomryJhHayMIFkRC9NkDI+q7sJm69J3WMOyjJ58hJbcieIrLFS1Id03r3R56qh1rqZw3yNwUk4BTL1TuJgLKo9PWCDvunUGrtPfCzyx7GsaPnPzJRlWTZJfvYPdGw2gAg46CHWbCWk7rL5srQKsVSAwqMqG5ZwF4vwEg1u8dmM3e8hrR7lNQBpwxV+8WTIf4cJ28F//AKXQy/AVe4boCCFrB1xlx8uPUphbt4GB1KwZXzloqtIguzcxwOg6oYR52WQc7Dr3RsMOAhdHdkAgWj4kY5q0LEtnALoVDIzCNmcB0Qb1WKFYJI1RGNGFi19NWWgCd1RRGqmoYs+gCus4RS0QVFHEWlPX1FA+v5S/gJHBhwwV6fSh1Cy2DHRMab+x6IWAS/ciFDLWx8laHUwdwhZag6EJ45DqKFqUBYcj8KQ3JV0W9o7XNLc9fPYrmuv1XwSFjxjx4I8haYysWgP7xgo+C0q7JZ3RdSyrL6kJ0WKKyj4raQRSoyKZK0EdMtnOxKa0LpJwSq5C5M6riCClaDZaY3qVpQ8B2Clc7ASBIrljlaUp4ah9ayZ3fgjJZH4Lu7v9kHxNqRDeRp+N55R9e6b8MTMjjDOmB+/uunqOvc5dlyNnlblAutE753Pbwhn3MreuBnmKxqND2N6keBk9UXzpY2ypDcAUnFsaw8vCEmteEDNeyohNlPHH8gbCi9YwoufHVRvtKqQpOSAo3PQj7SjNhUUTgtrFI1i3axTNYothI2xrD6QKLZGpmxqdhoTPpkLEMKe+iCo30/CPKzqB4ThZmjBC2LMKN7l1HC+zCqdxZQZYjLTs9ueR3ceyt+pWNsdyqlqsi0417iM43b5mPLHbFpwUVRnR3E9UOeXjr390irPIK6eV4Zq+mFRUkWmCRFRSq6fZvwFHNCLVphe1+8URJa0t/W7G5z2Ct2p/ZjRlb8DHVX9nxEuZ9WOJ/kQnn5UIyoVQdHM6Ryn1WtkLe79nd2seZrRZiH54clwH/kw7j+aL0odiMHuDsQU3qRluLs6q7Dqv4VHcmDWkqVoxsqvxrq3pxcrfxyfC0d8lcts5iZk5sWXP/JGeRvgn8xTs2MDCE0rS/Rha09cbny47lRWJN1R7FG9XU3Dvke6bwa209dlSvveFn/qCm4WGzoA1IditHX891R4tSd2KZV9Ux13SelQbLNHMT8lN97A6Kuf9XCjdqvuisbYbLFJeQz7yQm+T3Whu+6dQoWx6bi0Nz3SF2oKM3SjSCdTa1SsaoI5gUSxwXnscla1TMao2KdiRjGwasFbZUb3IJHEUyX2CACUZI5KNRn7DoFaKsViq3Jkkqtau7qrBZKrOrP6rZFCMo2ru+IrPBvCzr11kQB9MHnmcO0YO4+vT6qPWT8S7j9k3B/3SoJJG4ns4kkz1a38jPoP5lT8trjsbGXjTaTI42saA0NaGgDoABgBFlgXmoTVdYhrM9SZ4YOgG5c4+GtG5K8ncnoqE+n3CGt6XDJvJG0u/WBh/7jdVofahV5v4djl/ViP+nMrHpOuV7LeaF4fj8Td2vb/qadwnljyQ200C0xJqPB+cmGQf6JNv/wBD+y5lf4RunUA+zA9sMOXMfjmjcR0IcMjrj9l3KSNRcpHQq2PyZx+4HFM45qjgBjwqzcnXcdX4Wr2WODmNjkLTyzRjlIPkgbELgPEcMleV0Ugw5p6jo4dnD2W/BlWTS7RKSohktKH70lMt1Ri0tnElZYI7uFM3UVXG2UZA9BpBTHjbZKnZOlsJR0IShCfUJWQwlTQQ5R0NYJGML2wFSCoU2ZA1SgNSBJYOI/dNK3EY8rm4lPlSMuOHdF4kwcjrdXXAe6aQaiCuNw6w9vdM6nFcjfdRl4/wMpHW2zgrR71QqnGw/NlNYuMIiNypejJB5D21Nge5SWZ2Vl+rMk3BUT3hUjGgNgdoqs6m3YlWWwq7qYJ+Foy5x5WgdSScAK0QMC4B4U++X+d4zBWIe/PRz/yM/wB/ou+RMwkPBnDjalZseB6jv8yV36pD1+g6fRWNgXm+Tl5y+yKwVI3ASLXeEIbUrJZHSD08AsDvgcwHJbj8ufIT1B6tq0VaIyynDRsABlznHo1o7lZ4OSl9PYzJY6UTWem2NgjxjkDW8uPGOi5trcbaOqMNb4QTE4xt6APdh0ePBG+PceyPfxpqFoltKvytzjn5fUcPm44Y0/ui+HuB5ROLd14klDucMDuc8/Zz3d8dgPA+S2Y4+jbyPtdCPfRdXKNwWxctC7AJOwAyViQ4m4mv+nFyg4c/x1AXE/tAkEzMn+JH0d3I7hdB4k1MyPc7O3RvyXLuKZdivX8fHxRGTKEZTlbiRaTM3UtWoXHH9FJ+Q8M+M+hlG0bxyppTY89Gn9le+EOC2MjEj2AyO3HMM8o+qtf+H2OGHMaffABH1Ty8tXVC+mc2qadIe2E3r6cR1Vw/wwB+H9ivHR8dRhFZ+R3ErrIcLLpSE6l0/CCmqKilYKFjrLlGbLkZLXQzoFRNAK364WRMFX2zS+Cp43y/pKtSEseNlUrJEoiEnhHQxP8ACXQRjG9EMKFggcjYoihYRrpsvZOo3FV+m7Dk7jlClIKJpnbIjg3SmzWTM7dtc/CPMh7/AEH9Ul1TUAxhPfoB5J6BT8IcTtrOLZPwOO5HZ3c/JTnFuLoKezrjApgl2napFK0OjcHA+Cjw5eRJNPZc3VQ1dlPU3CFllzJYHSAMxs/Bw5wB/FsNiCrY4ZBB6EEHfsUl0bhCvVmdLFz5e3kDXHmEYzk8p674HXwmxtRt3TXQGNqdNkUbYo2hrGANa0eB3+fupHFZWj3JOwmMpJxVqXJH6Y/E/r7BOHyBrS52waMqgavdMkjnnudvktODHylfwLJiXUZdiue8Sv2Kvepn4VQeIehXrRIMqZG6t3AuhmeYZHwM3KrNesXvDR1Jwu48F8O+hXb2c8Bx847BeVkfPI5ey0vyXWlQ6rw4GAAAFhjZHvPIQGt29iVtdDmM2PxO+Fo9ypKmmTMA5X57kEbEpUvc4kjikzh2x8joVs+k5T145nHJ5cN/qizG/wABG6OEM+nlL5tNVmmjf4QM0Tv0qkZsWitS6chX0FYpYXfpKEfAf0lVWRgoF/wFCOyweDYR+VXN8ZKGkqk9SprLL5DRT5OF4h0ACEm0drewVzdRHzWh072VFkYKKMao7BbMreyuEuiNPbHyQj9DcOnxD26qiyoFFddVI3UvMQE1lqYGCMfNJtUmDGE+AqKYKElyyZJuUfhiHMf9Z2aP6n6KKd2NlPRrcsfM78UhMh+vQfsg7L1WLsVhWm6/PA7mjeW47dj8wr/oP2qsOG2W8p/W3cfUdlysyLIKWeKM+0FNo+jdP1qCZodE9rgfBCN5185VNQfGeZj3Md5aSCrZpf2k2o8B/LM3/wAtnfuFin4f8WOsnydiL1GVS6H2m13j/MD4z7jmb+4U9z7RqjAOR3qOPQAHr75Wf9PNOqH5IP4q1HlAhadzu7+yqbm5Uti4ZXc53Lt1o4bLdjhwjQjdifVG7KhcSbAq/aidlz7WQZrDYW+d/b/gTznxi2u/YVK2M/s14ZM0wkcPgbv9Au2xQBJ+ENEFeu0Yw5wBPsMbBWOKNeZPX0r2LL5NW02nBIBI6Z7In7ptt17KSJiJY1SsIHXqFrffv81l7cI4oaYpkwAEr0LJKiJyl87lWIGavnUDrAUUr0K+RWSFLYYVqYAjxWJ9luKY77rLyHFgi8Bbfcz8k19MDoFG8LuRwsdUHzQ0sYCYzOS6y5Mm2cLr7WOGD17HuudcUU5Wn4t487OHQ/PwVeb0yq+r6mMFpwQeud1sx42ybYnt3GhgwewVet3ULrFjlJ5CeXx4SF192VvVR7J7fQ8FxFwzIKjw7bcz1zBP6fUP9N/LjznCw6UtTWn0LtDhpUzSlMFxMYJsoBC2rSeM7O8FEQx5RjaeWoBLHosvPE0+AjbDtko4bfhpb4TC2/ZRfYyK/r+oiNjnHoAUF9m2h+vMbEm4JLt/AP8Af+iS8WWHTTNrM7nL8dgnfDmvCrKAB/lABmB2A7qUoub1+3/Q9f2diiYi4mJLpWuRytBa4HPgp3DICvOnFp7KphMbVMAtGFb5Ugmrygp3omVyAsOTo4EsPS2eVEWnpVYmVotCM1llQcky0mnQMtlXTQp2DK9zIL70sG2sXEpYU5yHleoH20LLbTqB1kk8iT3rOFLZtpFfuLTjxiNgOp2+qpurWM5TrULOVW9RPVboqibKrqkitX2W8FGxKLErcxsPwNcNnO/UfklelcPvszNbjYuX0Nwxw+yvC1jQBgALP5OXih4RCIoyxuAcAD6Kra5wRRukuLPRf/3oMNy7y5vQp5xRcLWCGP8AizHlbjq1vdyWt0mauzMLy/Ay6N++fOCsWNNLknTY7+DmmvfZZcgJdDi1H1zF/EA94+v7ZVbj5mHlcCCNiCCCD4IX0Bo1z1h6jcjsR4I6he1fh+rZH/yIWPPaQDllH/2G/wC60x8uUXU1YjgntHG9PnyrLp8YKPvfZiWnmqy8w/7cvwu+QcNj/JD16MsLuWVjmH3Gx+R6FaFmjPpi8WuyKJvpyexWut6iGRucewKn1ZmAHBUzWrpme2Bp7/F8l0nqwg2lQE89h345CQ32Hc/88LecYTR0YDQBsGjACWWWp8apUKyTTdWkhdljiB3HZX/Q+OA7AfsVzElTV5y05CaeNT7AnR3qlrrXDYhM47wK4tpeuOHcq1UOJD3KwT8auiqkX98wKEmcktfWwe6J+/A91D02hrPWWpRZiTKWfKCmenURbE1iJL5o07mAQMsSfgdZbzdWpvJJ95XvvK5QOsbuuIeW6lj7SCsXVSMAWG27/uktqyXLV7i7qtHNWmKSEYFYSqSqXnCbysym3D2i+pIMjYHddKVKwpDv7PuFg0eo4bnp8l0KZzWMJOwaMqDToAxoaOwQ+py85EQ6fm+XheROXOVllpCfS4vWlfZf5LYx+loRmpTCNhcew2Hk+EWdPZjb4T5bsg5NNDntBJdvnc7JrTd/ADThzTzHAC4Yc8l5+pTB8SO9LAwo3MUnK3Y1C98aHkdtggOHgjI/YphM1L51SGwMrHF+jc0RdAAHYP8Al9j8vC4/TkLLBD8h2436g56Ls2q2TvuuY8UVWvdzj4Xj8w7/ADW5KXFb6EN/vGVo+PKVVJndCnNfdNjyp6A0L5qyH5SFYjUyEJPp60qZOgGCQhNK1shLzXIUrGptM4f1tTI7prX1f3VSjlRDLBCnLGmFMubNSz3WzreVVIrqKjvqTxjWO3zId8qB+9rU2EOJ1jX1FgyrQqJ+T0U0E1msdgo2RE7lER1UQ2FVTACCFRzMwmLo8JfY3OEyZxBXrlzsK/aDREbR5Kr2i0wPiP0VqrPwFmzzvSGihpJa5W579kPUH5j1KDfNzH2CnbKslUhw8yLNCPLi79kC6ZNdPbhqR6QQgtUb2qYqOTopoIvsFKb0mAmNmRJbj1sxREbK/qUnVUrWoc5Vs1WTBVfux5C2romVaGLdPtPr5QjavxKwaZVWDJ9M7KLoNqUW43Gfmt5tJB6DCYwQbZR0cGQrLJexaKZa0kjslslMhdDl0/KT3dJ9lWGUVop0kOdx1/qomS9j1Tm1SLUttVc7jZw/mtCmCiPnWwnQQmwcHYhbGRGzhg22txaSr1V710Di/cmVLHAiWQKVsayWMQMiUwiUzY1HM7CZM4CtPQ0EGTkqZ7clSMHZPdI4PqJl62yVQPRTZFCSCHRyYW4mQPqrLZVNxDYyhdkhWGr0VbondWOr0UZjInKisO+EqQlQXnYYVOK2ES2ZUqtPRc70utOXowRNlZ1uTBS0bhF6+7dBVDlaH0KYZV3TyhB0Q0EKcUol5+bZSIbVi2RsEWFrXiRrYlGMgtGogUNmiCEyiYt3QprOopWo6d7KtXKmCui36uVV9Rpq8MgjRR71XPs4JZ6pBweqsl6DBSW7XDvYjutCkAGMi1MiGLyDgrPqJrOO0ALdoXl5ZgmzuiCsLK8niAH7LzF5eTs4njKJaV5eSs4yCtmry8kOGunqyVuiwvLNkKInKF1H8C8vKce0FlamS+ysLy9OBJlS4iQemrK8qy6APK6c1AvLy8/IUQ3gGyNiC8vLKhieMbqZwWV5OcL7Y2Vc1FvVeXk8QMqmptVetdV5eWhAFOoNGM90CwrK8qCs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9" name="AutoShape 7" descr="data:image/jpeg;base64,/9j/4AAQSkZJRgABAQAAAQABAAD/2wCEAAkGBhASEBUQEBIPDxAPEA8PEA8PEA8PDw8PFBAVFBQQFBQXHCYeFxkjGRQUHzAgIycpLCwuFR4xNTAqNSYrLCkBCQoKDgwOFw8PFykcHBgpKSkpKSkpKSkpKSksKSkpKSksKSkpKSkpKSkpKSkpKSksKSksLDUpKSkpLCkpKSkpKf/AABEIANMA7wMBIgACEQEDEQH/xAAcAAACAgMBAQAAAAAAAAAAAAAEBQMGAQIHAAj/xAA7EAABBAECBQIDBgQFBAMAAAABAAIDBBEFIQYSMUFRE2EicYEHFDJCUpEzobHRFiNywfAVU2LhJIKi/8QAGgEAAwEBAQEAAAAAAAAAAAAAAQIDBAAFBv/EACcRAAICAgIBAwMFAAAAAAAAAAABAhEDIRIxBBNBUSJhcRRCUoGx/9oADAMBAAIRAxEAPwBA+JDPjRzCsvgyvorMwtC3AUkkGFq0JrAEV5E70+dIWBMakiWSCW+tJst5jsllGz2R8j9lCtjgM8mCpq06CuuQ9S1g4T1oWy1QyphHMkFexsjYbPw+4WacRyy1J9kQ6TZJqVhGeusrjsez00n9QpYH7pdNPuiK0yetAsNnk2Vfvv8AiTaeXZIrD8uVsSFZNXRodsgoCp5JMBVZxpLNgqXSoTLLj8rdz/ZJbtzfA6k4A8lXTh+h6UIz+J3xO+ZWfK+KCgqxsEkuyYTW7Lskcp5jnt2UMa9xmBuZ3UZjRnp5XjErWKL3xqF8aYPiUToUUwC90S0MSOdGoXNTo4o8lYhbRFN31ULLQPUKnOjqIjXDggpqRCYxAg7o9kDXjdOpi0VxjEVEzCYWNLI3AUUcPZOppgomryJhHayMIFkRC9NkDI+q7sJm69J3WMOyjJ58hJbcieIrLFS1Id03r3R56qh1rqZw3yNwUk4BTL1TuJgLKo9PWCDvunUGrtPfCzyx7GsaPnPzJRlWTZJfvYPdGw2gAg46CHWbCWk7rL5srQKsVSAwqMqG5ZwF4vwEg1u8dmM3e8hrR7lNQBpwxV+8WTIf4cJ28F//AKXQy/AVe4boCCFrB1xlx8uPUphbt4GB1KwZXzloqtIguzcxwOg6oYR52WQc7Dr3RsMOAhdHdkAgWj4kY5q0LEtnALoVDIzCNmcB0Qb1WKFYJI1RGNGFi19NWWgCd1RRGqmoYs+gCus4RS0QVFHEWlPX1FA+v5S/gJHBhwwV6fSh1Cy2DHRMab+x6IWAS/ciFDLWx8laHUwdwhZag6EJ45DqKFqUBYcj8KQ3JV0W9o7XNLc9fPYrmuv1XwSFjxjx4I8haYysWgP7xgo+C0q7JZ3RdSyrL6kJ0WKKyj4raQRSoyKZK0EdMtnOxKa0LpJwSq5C5M6riCClaDZaY3qVpQ8B2Clc7ASBIrljlaUp4ah9ayZ3fgjJZH4Lu7v9kHxNqRDeRp+N55R9e6b8MTMjjDOmB+/uunqOvc5dlyNnlblAutE753Pbwhn3MreuBnmKxqND2N6keBk9UXzpY2ypDcAUnFsaw8vCEmteEDNeyohNlPHH8gbCi9YwoufHVRvtKqQpOSAo3PQj7SjNhUUTgtrFI1i3axTNYothI2xrD6QKLZGpmxqdhoTPpkLEMKe+iCo30/CPKzqB4ThZmjBC2LMKN7l1HC+zCqdxZQZYjLTs9ueR3ceyt+pWNsdyqlqsi0417iM43b5mPLHbFpwUVRnR3E9UOeXjr390irPIK6eV4Zq+mFRUkWmCRFRSq6fZvwFHNCLVphe1+8URJa0t/W7G5z2Ct2p/ZjRlb8DHVX9nxEuZ9WOJ/kQnn5UIyoVQdHM6Ryn1WtkLe79nd2seZrRZiH54clwH/kw7j+aL0odiMHuDsQU3qRluLs6q7Dqv4VHcmDWkqVoxsqvxrq3pxcrfxyfC0d8lcts5iZk5sWXP/JGeRvgn8xTs2MDCE0rS/Rha09cbny47lRWJN1R7FG9XU3Dvke6bwa209dlSvveFn/qCm4WGzoA1IditHX891R4tSd2KZV9Ux13SelQbLNHMT8lN97A6Kuf9XCjdqvuisbYbLFJeQz7yQm+T3Whu+6dQoWx6bi0Nz3SF2oKM3SjSCdTa1SsaoI5gUSxwXnscla1TMao2KdiRjGwasFbZUb3IJHEUyX2CACUZI5KNRn7DoFaKsViq3Jkkqtau7qrBZKrOrP6rZFCMo2ru+IrPBvCzr11kQB9MHnmcO0YO4+vT6qPWT8S7j9k3B/3SoJJG4ns4kkz1a38jPoP5lT8trjsbGXjTaTI42saA0NaGgDoABgBFlgXmoTVdYhrM9SZ4YOgG5c4+GtG5K8ncnoqE+n3CGt6XDJvJG0u/WBh/7jdVofahV5v4djl/ViP+nMrHpOuV7LeaF4fj8Td2vb/qadwnljyQ200C0xJqPB+cmGQf6JNv/wBD+y5lf4RunUA+zA9sMOXMfjmjcR0IcMjrj9l3KSNRcpHQq2PyZx+4HFM45qjgBjwqzcnXcdX4Wr2WODmNjkLTyzRjlIPkgbELgPEcMleV0Ugw5p6jo4dnD2W/BlWTS7RKSohktKH70lMt1Ri0tnElZYI7uFM3UVXG2UZA9BpBTHjbZKnZOlsJR0IShCfUJWQwlTQQ5R0NYJGML2wFSCoU2ZA1SgNSBJYOI/dNK3EY8rm4lPlSMuOHdF4kwcjrdXXAe6aQaiCuNw6w9vdM6nFcjfdRl4/wMpHW2zgrR71QqnGw/NlNYuMIiNypejJB5D21Nge5SWZ2Vl+rMk3BUT3hUjGgNgdoqs6m3YlWWwq7qYJ+Foy5x5WgdSScAK0QMC4B4U++X+d4zBWIe/PRz/yM/wB/ou+RMwkPBnDjalZseB6jv8yV36pD1+g6fRWNgXm+Tl5y+yKwVI3ASLXeEIbUrJZHSD08AsDvgcwHJbj8ufIT1B6tq0VaIyynDRsABlznHo1o7lZ4OSl9PYzJY6UTWem2NgjxjkDW8uPGOi5trcbaOqMNb4QTE4xt6APdh0ePBG+PceyPfxpqFoltKvytzjn5fUcPm44Y0/ui+HuB5ROLd14klDucMDuc8/Zz3d8dgPA+S2Y4+jbyPtdCPfRdXKNwWxctC7AJOwAyViQ4m4mv+nFyg4c/x1AXE/tAkEzMn+JH0d3I7hdB4k1MyPc7O3RvyXLuKZdivX8fHxRGTKEZTlbiRaTM3UtWoXHH9FJ+Q8M+M+hlG0bxyppTY89Gn9le+EOC2MjEj2AyO3HMM8o+qtf+H2OGHMaffABH1Ty8tXVC+mc2qadIe2E3r6cR1Vw/wwB+H9ivHR8dRhFZ+R3ErrIcLLpSE6l0/CCmqKilYKFjrLlGbLkZLXQzoFRNAK364WRMFX2zS+Cp43y/pKtSEseNlUrJEoiEnhHQxP8ACXQRjG9EMKFggcjYoihYRrpsvZOo3FV+m7Dk7jlClIKJpnbIjg3SmzWTM7dtc/CPMh7/AEH9Ul1TUAxhPfoB5J6BT8IcTtrOLZPwOO5HZ3c/JTnFuLoKezrjApgl2napFK0OjcHA+Cjw5eRJNPZc3VQ1dlPU3CFllzJYHSAMxs/Bw5wB/FsNiCrY4ZBB6EEHfsUl0bhCvVmdLFz5e3kDXHmEYzk8p674HXwmxtRt3TXQGNqdNkUbYo2hrGANa0eB3+fupHFZWj3JOwmMpJxVqXJH6Y/E/r7BOHyBrS52waMqgavdMkjnnudvktODHylfwLJiXUZdiue8Sv2Kvepn4VQeIehXrRIMqZG6t3AuhmeYZHwM3KrNesXvDR1Jwu48F8O+hXb2c8Bx847BeVkfPI5ey0vyXWlQ6rw4GAAAFhjZHvPIQGt29iVtdDmM2PxO+Fo9ypKmmTMA5X57kEbEpUvc4kjikzh2x8joVs+k5T145nHJ5cN/qizG/wABG6OEM+nlL5tNVmmjf4QM0Tv0qkZsWitS6chX0FYpYXfpKEfAf0lVWRgoF/wFCOyweDYR+VXN8ZKGkqk9SprLL5DRT5OF4h0ACEm0drewVzdRHzWh072VFkYKKMao7BbMreyuEuiNPbHyQj9DcOnxD26qiyoFFddVI3UvMQE1lqYGCMfNJtUmDGE+AqKYKElyyZJuUfhiHMf9Z2aP6n6KKd2NlPRrcsfM78UhMh+vQfsg7L1WLsVhWm6/PA7mjeW47dj8wr/oP2qsOG2W8p/W3cfUdlysyLIKWeKM+0FNo+jdP1qCZodE9rgfBCN5185VNQfGeZj3Md5aSCrZpf2k2o8B/LM3/wAtnfuFin4f8WOsnydiL1GVS6H2m13j/MD4z7jmb+4U9z7RqjAOR3qOPQAHr75Wf9PNOqH5IP4q1HlAhadzu7+yqbm5Uti4ZXc53Lt1o4bLdjhwjQjdifVG7KhcSbAq/aidlz7WQZrDYW+d/b/gTznxi2u/YVK2M/s14ZM0wkcPgbv9Au2xQBJ+ENEFeu0Yw5wBPsMbBWOKNeZPX0r2LL5NW02nBIBI6Z7In7ptt17KSJiJY1SsIHXqFrffv81l7cI4oaYpkwAEr0LJKiJyl87lWIGavnUDrAUUr0K+RWSFLYYVqYAjxWJ9luKY77rLyHFgi8Bbfcz8k19MDoFG8LuRwsdUHzQ0sYCYzOS6y5Mm2cLr7WOGD17HuudcUU5Wn4t487OHQ/PwVeb0yq+r6mMFpwQeud1sx42ybYnt3GhgwewVet3ULrFjlJ5CeXx4SF192VvVR7J7fQ8FxFwzIKjw7bcz1zBP6fUP9N/LjznCw6UtTWn0LtDhpUzSlMFxMYJsoBC2rSeM7O8FEQx5RjaeWoBLHosvPE0+AjbDtko4bfhpb4TC2/ZRfYyK/r+oiNjnHoAUF9m2h+vMbEm4JLt/AP8Af+iS8WWHTTNrM7nL8dgnfDmvCrKAB/lABmB2A7qUoub1+3/Q9f2diiYi4mJLpWuRytBa4HPgp3DICvOnFp7KphMbVMAtGFb5Ugmrygp3omVyAsOTo4EsPS2eVEWnpVYmVotCM1llQcky0mnQMtlXTQp2DK9zIL70sG2sXEpYU5yHleoH20LLbTqB1kk8iT3rOFLZtpFfuLTjxiNgOp2+qpurWM5TrULOVW9RPVboqibKrqkitX2W8FGxKLErcxsPwNcNnO/UfklelcPvszNbjYuX0Nwxw+yvC1jQBgALP5OXih4RCIoyxuAcAD6Kra5wRRukuLPRf/3oMNy7y5vQp5xRcLWCGP8AizHlbjq1vdyWt0mauzMLy/Ay6N++fOCsWNNLknTY7+DmmvfZZcgJdDi1H1zF/EA94+v7ZVbj5mHlcCCNiCCCD4IX0Bo1z1h6jcjsR4I6he1fh+rZH/yIWPPaQDllH/2G/wC60x8uUXU1YjgntHG9PnyrLp8YKPvfZiWnmqy8w/7cvwu+QcNj/JD16MsLuWVjmH3Gx+R6FaFmjPpi8WuyKJvpyexWut6iGRucewKn1ZmAHBUzWrpme2Bp7/F8l0nqwg2lQE89h345CQ32Hc/88LecYTR0YDQBsGjACWWWp8apUKyTTdWkhdljiB3HZX/Q+OA7AfsVzElTV5y05CaeNT7AnR3qlrrXDYhM47wK4tpeuOHcq1UOJD3KwT8auiqkX98wKEmcktfWwe6J+/A91D02hrPWWpRZiTKWfKCmenURbE1iJL5o07mAQMsSfgdZbzdWpvJJ95XvvK5QOsbuuIeW6lj7SCsXVSMAWG27/uktqyXLV7i7qtHNWmKSEYFYSqSqXnCbysym3D2i+pIMjYHddKVKwpDv7PuFg0eo4bnp8l0KZzWMJOwaMqDToAxoaOwQ+py85EQ6fm+XheROXOVllpCfS4vWlfZf5LYx+loRmpTCNhcew2Hk+EWdPZjb4T5bsg5NNDntBJdvnc7JrTd/ADThzTzHAC4Yc8l5+pTB8SO9LAwo3MUnK3Y1C98aHkdtggOHgjI/YphM1L51SGwMrHF+jc0RdAAHYP8Al9j8vC4/TkLLBD8h2436g56Ls2q2TvuuY8UVWvdzj4Xj8w7/ADW5KXFb6EN/vGVo+PKVVJndCnNfdNjyp6A0L5qyH5SFYjUyEJPp60qZOgGCQhNK1shLzXIUrGptM4f1tTI7prX1f3VSjlRDLBCnLGmFMubNSz3WzreVVIrqKjvqTxjWO3zId8qB+9rU2EOJ1jX1FgyrQqJ+T0U0E1msdgo2RE7lER1UQ2FVTACCFRzMwmLo8JfY3OEyZxBXrlzsK/aDREbR5Kr2i0wPiP0VqrPwFmzzvSGihpJa5W579kPUH5j1KDfNzH2CnbKslUhw8yLNCPLi79kC6ZNdPbhqR6QQgtUb2qYqOTopoIvsFKb0mAmNmRJbj1sxREbK/qUnVUrWoc5Vs1WTBVfux5C2romVaGLdPtPr5QjavxKwaZVWDJ9M7KLoNqUW43Gfmt5tJB6DCYwQbZR0cGQrLJexaKZa0kjslslMhdDl0/KT3dJ9lWGUVop0kOdx1/qomS9j1Tm1SLUttVc7jZw/mtCmCiPnWwnQQmwcHYhbGRGzhg22txaSr1V710Di/cmVLHAiWQKVsayWMQMiUwiUzY1HM7CZM4CtPQ0EGTkqZ7clSMHZPdI4PqJl62yVQPRTZFCSCHRyYW4mQPqrLZVNxDYyhdkhWGr0VbondWOr0UZjInKisO+EqQlQXnYYVOK2ES2ZUqtPRc70utOXowRNlZ1uTBS0bhF6+7dBVDlaH0KYZV3TyhB0Q0EKcUol5+bZSIbVi2RsEWFrXiRrYlGMgtGogUNmiCEyiYt3QprOopWo6d7KtXKmCui36uVV9Rpq8MgjRR71XPs4JZ6pBweqsl6DBSW7XDvYjutCkAGMi1MiGLyDgrPqJrOO0ALdoXl5ZgmzuiCsLK8niAH7LzF5eTs4njKJaV5eSs4yCtmry8kOGunqyVuiwvLNkKInKF1H8C8vKce0FlamS+ysLy9OBJlS4iQemrK8qy6APK6c1AvLy8/IUQ3gGyNiC8vLKhieMbqZwWV5OcL7Y2Vc1FvVeXk8QMqmptVetdV5eWhAFOoNGM90CwrK8qCs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6390" name="Picture 9" descr="http://www.kk.org/thetechnium/question-mar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598613"/>
            <a:ext cx="2590800" cy="2287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0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Usage of </a:t>
            </a:r>
            <a:r>
              <a:rPr lang="en-US" sz="6000" dirty="0" err="1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bluejacking</a:t>
            </a:r>
            <a:endParaRPr lang="en-US" sz="6000" dirty="0">
              <a:solidFill>
                <a:schemeClr val="accent1">
                  <a:tint val="83000"/>
                  <a:satMod val="1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>
            <a:normAutofit fontScale="92500" lnSpcReduction="10000"/>
          </a:bodyPr>
          <a:lstStyle/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Busy shopping centre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Starbucks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Train Station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High Street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On a train/ tube/ bus 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Cinema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Café/ restaurant/ pub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Mobile phone shop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IN" dirty="0"/>
              <a:t>Electronics shop (e.g. Dixons)</a:t>
            </a: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marL="448056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</p:txBody>
      </p:sp>
      <p:pic>
        <p:nvPicPr>
          <p:cNvPr id="19460" name="Picture 5" descr="https://encrypted-tbn3.gstatic.com/images?q=tbn:ANd9GcQFCPIQdUU-uXbYq5Es5iaomm_uMZi49Mosq8Men1IX5RrkRXbOj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590800"/>
            <a:ext cx="2590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04106"/>
          </a:xfrm>
        </p:spPr>
        <p:txBody>
          <a:bodyPr>
            <a:normAutofit fontScale="90000"/>
          </a:bodyPr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  <a:t>Places where </a:t>
            </a:r>
            <a:r>
              <a:rPr lang="en-US" dirty="0" err="1">
                <a:solidFill>
                  <a:schemeClr val="accent1">
                    <a:tint val="83000"/>
                    <a:satMod val="150000"/>
                  </a:schemeClr>
                </a:solidFill>
              </a:rPr>
              <a:t>bluejack</a:t>
            </a:r>
            <a: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  <a:t> occurs</a:t>
            </a:r>
            <a:br>
              <a:rPr lang="en-US" dirty="0">
                <a:solidFill>
                  <a:schemeClr val="accent1">
                    <a:tint val="83000"/>
                    <a:satMod val="150000"/>
                  </a:schemeClr>
                </a:solidFill>
              </a:rPr>
            </a:br>
            <a:endParaRPr lang="en-US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0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Related concepts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dirty="0" err="1"/>
              <a:t>Bluesnarfing</a:t>
            </a:r>
            <a:endParaRPr lang="en-US" dirty="0"/>
          </a:p>
          <a:p>
            <a:pPr eaLnBrk="1" hangingPunct="1">
              <a:lnSpc>
                <a:spcPct val="150000"/>
              </a:lnSpc>
            </a:pPr>
            <a:r>
              <a:rPr lang="en-US" dirty="0"/>
              <a:t>Bluebugging</a:t>
            </a:r>
          </a:p>
          <a:p>
            <a:pPr eaLnBrk="1" hangingPunct="1">
              <a:lnSpc>
                <a:spcPct val="150000"/>
              </a:lnSpc>
              <a:buFont typeface="Wingdings 2" pitchFamily="18" charset="2"/>
              <a:buNone/>
            </a:pPr>
            <a:endParaRPr lang="en-US" dirty="0"/>
          </a:p>
        </p:txBody>
      </p:sp>
      <p:pic>
        <p:nvPicPr>
          <p:cNvPr id="23556" name="Picture 5" descr="https://encrypted-tbn0.gstatic.com/images?q=tbn:ANd9GcTK-cJ7BLToXDoE_vX3HeFBKDVHnWnnLISZq2J8Ou5GvaiKrYW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2286000"/>
            <a:ext cx="35909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000" dirty="0" err="1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Bluesnarfing</a:t>
            </a:r>
            <a:endParaRPr lang="en-US" sz="6000" dirty="0">
              <a:solidFill>
                <a:schemeClr val="accent1">
                  <a:tint val="83000"/>
                  <a:satMod val="1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/>
              <a:t>Is the unauthorized access of information from a wireless device through a Bluetooth connection, often between phones, desktops, laptops, and PDAs.</a:t>
            </a:r>
          </a:p>
          <a:p>
            <a:pPr eaLnBrk="1" hangingPunct="1">
              <a:lnSpc>
                <a:spcPct val="150000"/>
              </a:lnSpc>
            </a:pPr>
            <a:r>
              <a:rPr lang="en-US"/>
              <a:t>Even if your device is hidden bluesnarfing can also be done.</a:t>
            </a:r>
          </a:p>
        </p:txBody>
      </p:sp>
      <p:pic>
        <p:nvPicPr>
          <p:cNvPr id="24580" name="Picture 5" descr="https://encrypted-tbn2.gstatic.com/images?q=tbn:ANd9GcTUzJpExYa_I2TniQVkkqYKVrfVUENjNLx5Llm2UYmB2YBDBwWNR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914400"/>
            <a:ext cx="351948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00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Bluebugging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/>
              <a:t>Form of Bluetooth attack. </a:t>
            </a:r>
          </a:p>
          <a:p>
            <a:pPr eaLnBrk="1" hangingPunct="1">
              <a:lnSpc>
                <a:spcPct val="150000"/>
              </a:lnSpc>
            </a:pPr>
            <a:r>
              <a:rPr lang="en-US"/>
              <a:t>Allows the user to take control of a victim's phone to call the user's phone.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/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600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Counters-measures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38943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/>
              <a:t>Turn off your Bluetooth device until you need to communicate with another user.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/>
              <a:t>Buy an E2X bag.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/>
              <a:t>It blocks all transmissions and receiving signals from leaving the bag.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0000"/>
          </a:bodyPr>
          <a:lstStyle/>
          <a:p>
            <a:pPr marL="484632" indent="0" eaLnBrk="1" fontAlgn="auto" hangingPunct="1">
              <a:spcAft>
                <a:spcPts val="0"/>
              </a:spcAft>
              <a:defRPr/>
            </a:pPr>
            <a:r>
              <a:rPr lang="en-US" sz="7200" dirty="0">
                <a:solidFill>
                  <a:schemeClr val="accent1">
                    <a:tint val="83000"/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438943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/>
              <a:t>Because of its low cost and power consumption this technology has a great future ahead.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Reference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/>
          <a:lstStyle/>
          <a:p>
            <a:r>
              <a:rPr lang="en-US">
                <a:hlinkClick r:id="rId2"/>
              </a:rPr>
              <a:t>www.google.com</a:t>
            </a:r>
            <a:endParaRPr lang="en-US"/>
          </a:p>
          <a:p>
            <a:r>
              <a:rPr lang="en-US">
                <a:hlinkClick r:id="rId3"/>
              </a:rPr>
              <a:t>www.wikipedia.com</a:t>
            </a:r>
            <a:endParaRPr lang="en-US"/>
          </a:p>
          <a:p>
            <a:r>
              <a:rPr lang="en-US">
                <a:hlinkClick r:id="rId4"/>
              </a:rPr>
              <a:t>www.studymafia.org</a:t>
            </a:r>
            <a:endParaRPr lang="en-US"/>
          </a:p>
          <a:p>
            <a:pPr>
              <a:buFont typeface="Wingdings 2" pitchFamily="18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67042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pPr algn="ctr">
              <a:buFont typeface="Wingdings 2" pitchFamily="18" charset="2"/>
              <a:buNone/>
            </a:pPr>
            <a:r>
              <a:rPr lang="en-US" sz="9600"/>
              <a:t>                              Thanks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Verve">
    <a:dk1>
      <a:sysClr val="windowText" lastClr="000000"/>
    </a:dk1>
    <a:lt1>
      <a:sysClr val="window" lastClr="FFFFFF"/>
    </a:lt1>
    <a:dk2>
      <a:srgbClr val="666666"/>
    </a:dk2>
    <a:lt2>
      <a:srgbClr val="D2D2D2"/>
    </a:lt2>
    <a:accent1>
      <a:srgbClr val="FF388C"/>
    </a:accent1>
    <a:accent2>
      <a:srgbClr val="E40059"/>
    </a:accent2>
    <a:accent3>
      <a:srgbClr val="9C007F"/>
    </a:accent3>
    <a:accent4>
      <a:srgbClr val="68007F"/>
    </a:accent4>
    <a:accent5>
      <a:srgbClr val="005BD3"/>
    </a:accent5>
    <a:accent6>
      <a:srgbClr val="00349E"/>
    </a:accent6>
    <a:hlink>
      <a:srgbClr val="17BBFD"/>
    </a:hlink>
    <a:folHlink>
      <a:srgbClr val="FF79C2"/>
    </a:folHlink>
  </a:clrScheme>
  <a:fontScheme name="Verve">
    <a:majorFont>
      <a:latin typeface="Century Gothic"/>
      <a:ea typeface=""/>
      <a:cs typeface=""/>
      <a:font script="Jpan" typeface="HGｺﾞｼｯｸM"/>
      <a:font script="Hang" typeface="HY중고딕"/>
      <a:font script="Hans" typeface="幼圆"/>
      <a:font script="Hant" typeface="微軟正黑體"/>
      <a:font script="Arab" typeface="Tahoma"/>
      <a:font script="Hebr" typeface="Gisha"/>
      <a:font script="Thai" typeface="Dillen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Century Gothic"/>
      <a:ea typeface=""/>
      <a:cs typeface=""/>
      <a:font script="Jpan" typeface="ＭＳ ゴシック"/>
      <a:font script="Hang" typeface="HY중고딕"/>
      <a:font script="Hans" typeface="幼圆"/>
      <a:font script="Hant" typeface="微軟正黑體"/>
      <a:font script="Arab" typeface="Tahoma"/>
      <a:font script="Hebr" typeface="Gisha"/>
      <a:font script="Thai" typeface="Dillen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</a:minorFont>
  </a:fontScheme>
  <a:fmtScheme name="Verve">
    <a:fillStyleLst>
      <a:solidFill>
        <a:schemeClr val="phClr"/>
      </a:solidFill>
      <a:gradFill rotWithShape="1">
        <a:gsLst>
          <a:gs pos="0">
            <a:schemeClr val="phClr">
              <a:tint val="10000"/>
              <a:satMod val="300000"/>
            </a:schemeClr>
          </a:gs>
          <a:gs pos="34000">
            <a:schemeClr val="phClr">
              <a:tint val="13500"/>
              <a:satMod val="250000"/>
            </a:schemeClr>
          </a:gs>
          <a:gs pos="100000">
            <a:schemeClr val="phClr">
              <a:tint val="60000"/>
              <a:satMod val="200000"/>
            </a:schemeClr>
          </a:gs>
        </a:gsLst>
        <a:path path="circle">
          <a:fillToRect l="50000" t="155000" r="50000" b="-55000"/>
        </a:path>
      </a:gradFill>
      <a:gradFill rotWithShape="1">
        <a:gsLst>
          <a:gs pos="0">
            <a:schemeClr val="phClr">
              <a:tint val="60000"/>
              <a:satMod val="160000"/>
            </a:schemeClr>
          </a:gs>
          <a:gs pos="46000">
            <a:schemeClr val="phClr">
              <a:tint val="86000"/>
              <a:satMod val="160000"/>
            </a:schemeClr>
          </a:gs>
          <a:gs pos="100000">
            <a:schemeClr val="phClr">
              <a:shade val="40000"/>
              <a:satMod val="160000"/>
            </a:schemeClr>
          </a:gs>
        </a:gsLst>
        <a:path path="circle">
          <a:fillToRect l="50000" t="155000" r="50000" b="-55000"/>
        </a:path>
      </a:gradFill>
    </a:fillStyleLst>
    <a:lnStyleLst>
      <a:ln w="9525" cap="flat" cmpd="sng" algn="ctr">
        <a:solidFill>
          <a:schemeClr val="phClr">
            <a:satMod val="120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63500" dist="25400" dir="147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38100" dir="14700000" algn="t" rotWithShape="0">
            <a:srgbClr val="000000">
              <a:alpha val="60000"/>
            </a:srgbClr>
          </a:outerShdw>
        </a:effectLst>
      </a:effectStyle>
      <a:effectStyle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3600000"/>
          </a:lightRig>
        </a:scene3d>
        <a:sp3d prstMaterial="plastic">
          <a:bevelT w="127000" h="38200" prst="relaxedInset"/>
          <a:contourClr>
            <a:schemeClr val="phClr"/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8000"/>
              <a:satMod val="230000"/>
            </a:schemeClr>
          </a:gs>
          <a:gs pos="60000">
            <a:schemeClr val="phClr">
              <a:shade val="92000"/>
              <a:satMod val="230000"/>
            </a:schemeClr>
          </a:gs>
          <a:gs pos="100000">
            <a:schemeClr val="phClr">
              <a:tint val="85000"/>
              <a:satMod val="400000"/>
            </a:schemeClr>
          </a:gs>
        </a:gsLst>
        <a:lin ang="5400000" scaled="0"/>
      </a:gradFill>
      <a:blipFill>
        <a:blip xmlns:r="http://schemas.openxmlformats.org/officeDocument/2006/relationships" r:embed="rId1">
          <a:duotone>
            <a:schemeClr val="phClr">
              <a:shade val="1200"/>
              <a:satMod val="150000"/>
            </a:schemeClr>
            <a:schemeClr val="phClr">
              <a:tint val="90000"/>
              <a:satMod val="150000"/>
            </a:schemeClr>
          </a:duotone>
        </a:blip>
        <a:tile tx="0" ty="0" sx="70000" sy="70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428</TotalTime>
  <Words>523</Words>
  <Application>Microsoft Office PowerPoint</Application>
  <PresentationFormat>On-screen Show (4:3)</PresentationFormat>
  <Paragraphs>110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Century Gothic</vt:lpstr>
      <vt:lpstr>Tahoma</vt:lpstr>
      <vt:lpstr>Times New Roman</vt:lpstr>
      <vt:lpstr>Verdana</vt:lpstr>
      <vt:lpstr>Wingdings</vt:lpstr>
      <vt:lpstr>Wingdings 2</vt:lpstr>
      <vt:lpstr>Verve</vt:lpstr>
      <vt:lpstr>PowerPoint Presentation</vt:lpstr>
      <vt:lpstr>Content</vt:lpstr>
      <vt:lpstr>Introduction</vt:lpstr>
      <vt:lpstr>Bluejacking Technology</vt:lpstr>
      <vt:lpstr>Architecture</vt:lpstr>
      <vt:lpstr>PowerPoint Presentation</vt:lpstr>
      <vt:lpstr>Technical Features</vt:lpstr>
      <vt:lpstr>Classification </vt:lpstr>
      <vt:lpstr>How to Bluejack</vt:lpstr>
      <vt:lpstr>Usage of bluejacking</vt:lpstr>
      <vt:lpstr>Places where bluejack occurs </vt:lpstr>
      <vt:lpstr>Related concepts</vt:lpstr>
      <vt:lpstr>Bluesnarfing</vt:lpstr>
      <vt:lpstr>Bluebugging</vt:lpstr>
      <vt:lpstr>Counters-measures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Bluejacking</dc:title>
  <dc:creator>naveen</dc:creator>
  <cp:lastModifiedBy>S PAVITHRAN</cp:lastModifiedBy>
  <cp:revision>53</cp:revision>
  <dcterms:created xsi:type="dcterms:W3CDTF">2008-10-21T23:47:48Z</dcterms:created>
  <dcterms:modified xsi:type="dcterms:W3CDTF">2021-10-30T07:38:28Z</dcterms:modified>
</cp:coreProperties>
</file>