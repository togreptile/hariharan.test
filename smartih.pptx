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1" r:id="rId5"/>
    <p:sldId id="262" r:id="rId6"/>
    <p:sldId id="263" r:id="rId7"/>
    <p:sldId id="264" r:id="rId8"/>
    <p:sldId id="266" r:id="rId9"/>
    <p:sldId id="267" r:id="rId10"/>
    <p:sldId id="269" r:id="rId11"/>
    <p:sldId id="270" r:id="rId12"/>
    <p:sldId id="271" r:id="rId13"/>
    <p:sldId id="272" r:id="rId14"/>
    <p:sldId id="27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001642"/>
    <a:srgbClr val="000818"/>
    <a:srgbClr val="680000"/>
    <a:srgbClr val="96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5" d="100"/>
          <a:sy n="85" d="100"/>
        </p:scale>
        <p:origin x="590" y="77"/>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DB75BAF-91F3-4868-A740-EF194D8D42C7}" type="datetimeFigureOut">
              <a:rPr lang="en-IN" smtClean="0"/>
              <a:t>10-03-2022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272BB0-1C57-4CED-94BE-0091EFE8F567}" type="slidenum">
              <a:rPr lang="en-IN" smtClean="0"/>
              <a:t>‹#›</a:t>
            </a:fld>
            <a:endParaRPr lang="en-IN"/>
          </a:p>
        </p:txBody>
      </p:sp>
    </p:spTree>
    <p:extLst>
      <p:ext uri="{BB962C8B-B14F-4D97-AF65-F5344CB8AC3E}">
        <p14:creationId xmlns:p14="http://schemas.microsoft.com/office/powerpoint/2010/main" val="2219059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DB75BAF-91F3-4868-A740-EF194D8D42C7}" type="datetimeFigureOut">
              <a:rPr lang="en-IN" smtClean="0"/>
              <a:t>10-03-2022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272BB0-1C57-4CED-94BE-0091EFE8F567}" type="slidenum">
              <a:rPr lang="en-IN" smtClean="0"/>
              <a:t>‹#›</a:t>
            </a:fld>
            <a:endParaRPr lang="en-IN"/>
          </a:p>
        </p:txBody>
      </p:sp>
    </p:spTree>
    <p:extLst>
      <p:ext uri="{BB962C8B-B14F-4D97-AF65-F5344CB8AC3E}">
        <p14:creationId xmlns:p14="http://schemas.microsoft.com/office/powerpoint/2010/main" val="3476125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DB75BAF-91F3-4868-A740-EF194D8D42C7}" type="datetimeFigureOut">
              <a:rPr lang="en-IN" smtClean="0"/>
              <a:t>10-03-2022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272BB0-1C57-4CED-94BE-0091EFE8F567}" type="slidenum">
              <a:rPr lang="en-IN" smtClean="0"/>
              <a:t>‹#›</a:t>
            </a:fld>
            <a:endParaRPr lang="en-IN"/>
          </a:p>
        </p:txBody>
      </p:sp>
    </p:spTree>
    <p:extLst>
      <p:ext uri="{BB962C8B-B14F-4D97-AF65-F5344CB8AC3E}">
        <p14:creationId xmlns:p14="http://schemas.microsoft.com/office/powerpoint/2010/main" val="2101337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DB75BAF-91F3-4868-A740-EF194D8D42C7}" type="datetimeFigureOut">
              <a:rPr lang="en-IN" smtClean="0"/>
              <a:t>10-03-2022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7272BB0-1C57-4CED-94BE-0091EFE8F567}" type="slidenum">
              <a:rPr lang="en-IN" smtClean="0"/>
              <a:t>‹#›</a:t>
            </a:fld>
            <a:endParaRPr lang="en-IN"/>
          </a:p>
        </p:txBody>
      </p:sp>
    </p:spTree>
    <p:extLst>
      <p:ext uri="{BB962C8B-B14F-4D97-AF65-F5344CB8AC3E}">
        <p14:creationId xmlns:p14="http://schemas.microsoft.com/office/powerpoint/2010/main" val="1883918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DB75BAF-91F3-4868-A740-EF194D8D42C7}" type="datetimeFigureOut">
              <a:rPr lang="en-IN" smtClean="0"/>
              <a:t>10-03-2022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7272BB0-1C57-4CED-94BE-0091EFE8F567}" type="slidenum">
              <a:rPr lang="en-IN" smtClean="0"/>
              <a:t>‹#›</a:t>
            </a:fld>
            <a:endParaRPr lang="en-IN"/>
          </a:p>
        </p:txBody>
      </p:sp>
    </p:spTree>
    <p:extLst>
      <p:ext uri="{BB962C8B-B14F-4D97-AF65-F5344CB8AC3E}">
        <p14:creationId xmlns:p14="http://schemas.microsoft.com/office/powerpoint/2010/main" val="3956157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DB75BAF-91F3-4868-A740-EF194D8D42C7}" type="datetimeFigureOut">
              <a:rPr lang="en-IN" smtClean="0"/>
              <a:t>10-03-2022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7272BB0-1C57-4CED-94BE-0091EFE8F567}" type="slidenum">
              <a:rPr lang="en-IN" smtClean="0"/>
              <a:t>‹#›</a:t>
            </a:fld>
            <a:endParaRPr lang="en-IN"/>
          </a:p>
        </p:txBody>
      </p:sp>
    </p:spTree>
    <p:extLst>
      <p:ext uri="{BB962C8B-B14F-4D97-AF65-F5344CB8AC3E}">
        <p14:creationId xmlns:p14="http://schemas.microsoft.com/office/powerpoint/2010/main" val="4054884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B75BAF-91F3-4868-A740-EF194D8D42C7}" type="datetimeFigureOut">
              <a:rPr lang="en-IN" smtClean="0"/>
              <a:t>10-03-2022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7272BB0-1C57-4CED-94BE-0091EFE8F567}" type="slidenum">
              <a:rPr lang="en-IN" smtClean="0"/>
              <a:t>‹#›</a:t>
            </a:fld>
            <a:endParaRPr lang="en-IN"/>
          </a:p>
        </p:txBody>
      </p:sp>
    </p:spTree>
    <p:extLst>
      <p:ext uri="{BB962C8B-B14F-4D97-AF65-F5344CB8AC3E}">
        <p14:creationId xmlns:p14="http://schemas.microsoft.com/office/powerpoint/2010/main" val="200785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DB75BAF-91F3-4868-A740-EF194D8D42C7}" type="datetimeFigureOut">
              <a:rPr lang="en-IN" smtClean="0"/>
              <a:t>10-03-2022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7272BB0-1C57-4CED-94BE-0091EFE8F567}" type="slidenum">
              <a:rPr lang="en-IN" smtClean="0"/>
              <a:t>‹#›</a:t>
            </a:fld>
            <a:endParaRPr lang="en-IN"/>
          </a:p>
        </p:txBody>
      </p:sp>
    </p:spTree>
    <p:extLst>
      <p:ext uri="{BB962C8B-B14F-4D97-AF65-F5344CB8AC3E}">
        <p14:creationId xmlns:p14="http://schemas.microsoft.com/office/powerpoint/2010/main" val="1278781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DB75BAF-91F3-4868-A740-EF194D8D42C7}" type="datetimeFigureOut">
              <a:rPr lang="en-IN" smtClean="0"/>
              <a:t>10-03-2022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7272BB0-1C57-4CED-94BE-0091EFE8F567}" type="slidenum">
              <a:rPr lang="en-IN" smtClean="0"/>
              <a:t>‹#›</a:t>
            </a:fld>
            <a:endParaRPr lang="en-IN"/>
          </a:p>
        </p:txBody>
      </p:sp>
    </p:spTree>
    <p:extLst>
      <p:ext uri="{BB962C8B-B14F-4D97-AF65-F5344CB8AC3E}">
        <p14:creationId xmlns:p14="http://schemas.microsoft.com/office/powerpoint/2010/main" val="4193696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DB75BAF-91F3-4868-A740-EF194D8D42C7}" type="datetimeFigureOut">
              <a:rPr lang="en-IN" smtClean="0"/>
              <a:t>10-03-2022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272BB0-1C57-4CED-94BE-0091EFE8F567}" type="slidenum">
              <a:rPr lang="en-IN" smtClean="0"/>
              <a:t>‹#›</a:t>
            </a:fld>
            <a:endParaRPr lang="en-IN"/>
          </a:p>
        </p:txBody>
      </p:sp>
    </p:spTree>
    <p:extLst>
      <p:ext uri="{BB962C8B-B14F-4D97-AF65-F5344CB8AC3E}">
        <p14:creationId xmlns:p14="http://schemas.microsoft.com/office/powerpoint/2010/main" val="18515500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DB75BAF-91F3-4868-A740-EF194D8D42C7}" type="datetimeFigureOut">
              <a:rPr lang="en-IN" smtClean="0"/>
              <a:t>10-03-2022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272BB0-1C57-4CED-94BE-0091EFE8F567}" type="slidenum">
              <a:rPr lang="en-IN" smtClean="0"/>
              <a:t>‹#›</a:t>
            </a:fld>
            <a:endParaRPr lang="en-IN"/>
          </a:p>
        </p:txBody>
      </p:sp>
    </p:spTree>
    <p:extLst>
      <p:ext uri="{BB962C8B-B14F-4D97-AF65-F5344CB8AC3E}">
        <p14:creationId xmlns:p14="http://schemas.microsoft.com/office/powerpoint/2010/main" val="2060520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B75BAF-91F3-4868-A740-EF194D8D42C7}" type="datetimeFigureOut">
              <a:rPr lang="en-IN" smtClean="0"/>
              <a:t>10-03-2022</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272BB0-1C57-4CED-94BE-0091EFE8F567}" type="slidenum">
              <a:rPr lang="en-IN" smtClean="0"/>
              <a:t>‹#›</a:t>
            </a:fld>
            <a:endParaRPr lang="en-IN"/>
          </a:p>
        </p:txBody>
      </p:sp>
    </p:spTree>
    <p:extLst>
      <p:ext uri="{BB962C8B-B14F-4D97-AF65-F5344CB8AC3E}">
        <p14:creationId xmlns:p14="http://schemas.microsoft.com/office/powerpoint/2010/main" val="13962637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22069" y="117567"/>
            <a:ext cx="11782697" cy="1573122"/>
          </a:xfrm>
        </p:spPr>
        <p:txBody>
          <a:bodyPr/>
          <a:lstStyle/>
          <a:p>
            <a:br>
              <a:rPr lang="en-IN"/>
            </a:br>
            <a:endParaRPr lang="en-IN"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18963" y="-55322"/>
            <a:ext cx="3300337" cy="1505417"/>
          </a:xfrm>
        </p:spPr>
      </p:pic>
      <p:sp>
        <p:nvSpPr>
          <p:cNvPr id="19" name="Rectangle 18"/>
          <p:cNvSpPr/>
          <p:nvPr/>
        </p:nvSpPr>
        <p:spPr>
          <a:xfrm>
            <a:off x="452087" y="4357550"/>
            <a:ext cx="1412707" cy="11811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i="1" dirty="0">
                <a:solidFill>
                  <a:schemeClr val="bg1"/>
                </a:solidFill>
                <a:latin typeface="Calibri" panose="020F0502020204030204" pitchFamily="34" charset="0"/>
              </a:rPr>
              <a:t>Photo </a:t>
            </a:r>
          </a:p>
          <a:p>
            <a:pPr algn="ctr"/>
            <a:r>
              <a:rPr lang="en-IN" sz="1100" i="1" dirty="0">
                <a:solidFill>
                  <a:schemeClr val="bg1"/>
                </a:solidFill>
                <a:latin typeface="Calibri" panose="020F0502020204030204" pitchFamily="34" charset="0"/>
              </a:rPr>
              <a:t>(Student 1)</a:t>
            </a:r>
          </a:p>
        </p:txBody>
      </p:sp>
      <p:sp>
        <p:nvSpPr>
          <p:cNvPr id="20" name="Rectangle 19"/>
          <p:cNvSpPr/>
          <p:nvPr/>
        </p:nvSpPr>
        <p:spPr>
          <a:xfrm>
            <a:off x="4322685" y="4357550"/>
            <a:ext cx="1412707" cy="11811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i="1" dirty="0">
                <a:solidFill>
                  <a:schemeClr val="bg1"/>
                </a:solidFill>
                <a:latin typeface="Calibri" panose="020F0502020204030204" pitchFamily="34" charset="0"/>
              </a:rPr>
              <a:t>Photo </a:t>
            </a:r>
          </a:p>
          <a:p>
            <a:pPr algn="ctr"/>
            <a:r>
              <a:rPr lang="en-IN" sz="1100" i="1" dirty="0">
                <a:solidFill>
                  <a:schemeClr val="bg1"/>
                </a:solidFill>
                <a:latin typeface="Calibri" panose="020F0502020204030204" pitchFamily="34" charset="0"/>
              </a:rPr>
              <a:t>(Student 3)</a:t>
            </a:r>
          </a:p>
        </p:txBody>
      </p:sp>
      <p:sp>
        <p:nvSpPr>
          <p:cNvPr id="21" name="Rectangle 20"/>
          <p:cNvSpPr/>
          <p:nvPr/>
        </p:nvSpPr>
        <p:spPr>
          <a:xfrm>
            <a:off x="2387386" y="4357550"/>
            <a:ext cx="1412707" cy="11811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i="1" dirty="0">
                <a:solidFill>
                  <a:schemeClr val="bg1"/>
                </a:solidFill>
                <a:latin typeface="Calibri" panose="020F0502020204030204" pitchFamily="34" charset="0"/>
              </a:rPr>
              <a:t>Photo </a:t>
            </a:r>
          </a:p>
          <a:p>
            <a:pPr algn="ctr"/>
            <a:r>
              <a:rPr lang="en-IN" sz="1100" i="1" dirty="0">
                <a:solidFill>
                  <a:schemeClr val="bg1"/>
                </a:solidFill>
                <a:latin typeface="Calibri" panose="020F0502020204030204" pitchFamily="34" charset="0"/>
              </a:rPr>
              <a:t>(Student 2)</a:t>
            </a:r>
          </a:p>
        </p:txBody>
      </p:sp>
      <p:sp>
        <p:nvSpPr>
          <p:cNvPr id="22" name="TextBox 21"/>
          <p:cNvSpPr txBox="1"/>
          <p:nvPr/>
        </p:nvSpPr>
        <p:spPr>
          <a:xfrm>
            <a:off x="412334" y="5619714"/>
            <a:ext cx="1442592" cy="830997"/>
          </a:xfrm>
          <a:prstGeom prst="rect">
            <a:avLst/>
          </a:prstGeom>
          <a:noFill/>
        </p:spPr>
        <p:txBody>
          <a:bodyPr wrap="square" rtlCol="0">
            <a:spAutoFit/>
          </a:bodyPr>
          <a:lstStyle/>
          <a:p>
            <a:pPr algn="ctr"/>
            <a:r>
              <a:rPr lang="en-IN" sz="1600" b="1" dirty="0">
                <a:solidFill>
                  <a:srgbClr val="002060"/>
                </a:solidFill>
                <a:latin typeface="Calibri" panose="020F0502020204030204" pitchFamily="34" charset="0"/>
              </a:rPr>
              <a:t>Student Name</a:t>
            </a:r>
          </a:p>
          <a:p>
            <a:pPr algn="ctr"/>
            <a:r>
              <a:rPr lang="en-US" sz="1600" b="1" dirty="0">
                <a:solidFill>
                  <a:srgbClr val="002060"/>
                </a:solidFill>
                <a:latin typeface="Calibri" panose="020F0502020204030204" pitchFamily="34" charset="0"/>
              </a:rPr>
              <a:t>V</a:t>
            </a:r>
            <a:r>
              <a:rPr lang="en-IN" sz="1600" b="1" dirty="0">
                <a:solidFill>
                  <a:srgbClr val="002060"/>
                </a:solidFill>
                <a:latin typeface="Calibri" panose="020F0502020204030204" pitchFamily="34" charset="0"/>
              </a:rPr>
              <a:t>TU No.</a:t>
            </a:r>
          </a:p>
          <a:p>
            <a:pPr algn="ctr"/>
            <a:r>
              <a:rPr lang="en-US" sz="1600" b="1" dirty="0">
                <a:solidFill>
                  <a:srgbClr val="002060"/>
                </a:solidFill>
                <a:latin typeface="Calibri" panose="020F0502020204030204" pitchFamily="34" charset="0"/>
              </a:rPr>
              <a:t>Dept.</a:t>
            </a:r>
            <a:endParaRPr lang="en-IN" sz="2000" b="1" dirty="0">
              <a:solidFill>
                <a:srgbClr val="002060"/>
              </a:solidFill>
            </a:endParaRPr>
          </a:p>
        </p:txBody>
      </p:sp>
      <p:sp>
        <p:nvSpPr>
          <p:cNvPr id="26" name="Title 1"/>
          <p:cNvSpPr txBox="1">
            <a:spLocks/>
          </p:cNvSpPr>
          <p:nvPr/>
        </p:nvSpPr>
        <p:spPr>
          <a:xfrm>
            <a:off x="452087" y="1529356"/>
            <a:ext cx="6305214" cy="2180604"/>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70000"/>
              </a:lnSpc>
            </a:pPr>
            <a:r>
              <a:rPr lang="en-US" sz="2400" dirty="0">
                <a:latin typeface="Gill Sans MT" panose="020B0502020104020203" pitchFamily="34" charset="0"/>
              </a:rPr>
              <a:t>PS Number	:</a:t>
            </a:r>
          </a:p>
          <a:p>
            <a:pPr>
              <a:lnSpc>
                <a:spcPct val="170000"/>
              </a:lnSpc>
            </a:pPr>
            <a:r>
              <a:rPr lang="en-US" sz="2400" dirty="0">
                <a:latin typeface="Gill Sans MT" panose="020B0502020104020203" pitchFamily="34" charset="0"/>
              </a:rPr>
              <a:t>Category	:</a:t>
            </a:r>
          </a:p>
          <a:p>
            <a:pPr>
              <a:lnSpc>
                <a:spcPct val="170000"/>
              </a:lnSpc>
            </a:pPr>
            <a:r>
              <a:rPr lang="en-US" sz="2400" dirty="0">
                <a:latin typeface="Gill Sans MT" panose="020B0502020104020203" pitchFamily="34" charset="0"/>
              </a:rPr>
              <a:t>Organization	:</a:t>
            </a:r>
          </a:p>
          <a:p>
            <a:pPr>
              <a:lnSpc>
                <a:spcPct val="170000"/>
              </a:lnSpc>
            </a:pPr>
            <a:r>
              <a:rPr lang="en-US" sz="2400" dirty="0">
                <a:latin typeface="Gill Sans MT" panose="020B0502020104020203" pitchFamily="34" charset="0"/>
              </a:rPr>
              <a:t>Domain Bucket	:</a:t>
            </a:r>
            <a:endParaRPr lang="en-IN" sz="2400" dirty="0">
              <a:latin typeface="Gill Sans MT" panose="020B0502020104020203" pitchFamily="34" charset="0"/>
            </a:endParaRPr>
          </a:p>
        </p:txBody>
      </p:sp>
      <p:pic>
        <p:nvPicPr>
          <p:cNvPr id="3" name="Picture 2">
            <a:extLst>
              <a:ext uri="{FF2B5EF4-FFF2-40B4-BE49-F238E27FC236}">
                <a16:creationId xmlns:a16="http://schemas.microsoft.com/office/drawing/2014/main" id="{DCD7C8E8-5171-452F-87C3-D73C193654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06" y="-27257"/>
            <a:ext cx="3300338" cy="1496390"/>
          </a:xfrm>
          <a:prstGeom prst="rect">
            <a:avLst/>
          </a:prstGeom>
        </p:spPr>
      </p:pic>
      <p:pic>
        <p:nvPicPr>
          <p:cNvPr id="8" name="Picture 7">
            <a:extLst>
              <a:ext uri="{FF2B5EF4-FFF2-40B4-BE49-F238E27FC236}">
                <a16:creationId xmlns:a16="http://schemas.microsoft.com/office/drawing/2014/main" id="{C7960CF6-A179-40CC-99F8-7DA66A597C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4500" y="18544"/>
            <a:ext cx="2857500" cy="1600200"/>
          </a:xfrm>
          <a:prstGeom prst="rect">
            <a:avLst/>
          </a:prstGeom>
        </p:spPr>
      </p:pic>
      <p:pic>
        <p:nvPicPr>
          <p:cNvPr id="10" name="Picture 9">
            <a:extLst>
              <a:ext uri="{FF2B5EF4-FFF2-40B4-BE49-F238E27FC236}">
                <a16:creationId xmlns:a16="http://schemas.microsoft.com/office/drawing/2014/main" id="{1F177469-7F8E-4C57-B662-AD30E4C7394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61101" y="-23735"/>
            <a:ext cx="1602479" cy="1602479"/>
          </a:xfrm>
          <a:prstGeom prst="rect">
            <a:avLst/>
          </a:prstGeom>
        </p:spPr>
      </p:pic>
      <p:sp>
        <p:nvSpPr>
          <p:cNvPr id="27" name="Rectangle 26">
            <a:extLst>
              <a:ext uri="{FF2B5EF4-FFF2-40B4-BE49-F238E27FC236}">
                <a16:creationId xmlns:a16="http://schemas.microsoft.com/office/drawing/2014/main" id="{53E37A01-537A-4CEC-9BC8-005822B116BE}"/>
              </a:ext>
            </a:extLst>
          </p:cNvPr>
          <p:cNvSpPr/>
          <p:nvPr/>
        </p:nvSpPr>
        <p:spPr>
          <a:xfrm>
            <a:off x="6257984" y="4361906"/>
            <a:ext cx="1412707" cy="11811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i="1" dirty="0">
                <a:solidFill>
                  <a:schemeClr val="bg1"/>
                </a:solidFill>
                <a:latin typeface="Calibri" panose="020F0502020204030204" pitchFamily="34" charset="0"/>
              </a:rPr>
              <a:t>Photo </a:t>
            </a:r>
          </a:p>
          <a:p>
            <a:pPr algn="ctr"/>
            <a:r>
              <a:rPr lang="en-IN" sz="1100" i="1" dirty="0">
                <a:solidFill>
                  <a:schemeClr val="bg1"/>
                </a:solidFill>
                <a:latin typeface="Calibri" panose="020F0502020204030204" pitchFamily="34" charset="0"/>
              </a:rPr>
              <a:t>(Student 3)</a:t>
            </a:r>
          </a:p>
        </p:txBody>
      </p:sp>
      <p:sp>
        <p:nvSpPr>
          <p:cNvPr id="29" name="Rectangle 28">
            <a:extLst>
              <a:ext uri="{FF2B5EF4-FFF2-40B4-BE49-F238E27FC236}">
                <a16:creationId xmlns:a16="http://schemas.microsoft.com/office/drawing/2014/main" id="{788775E5-E5F2-40DC-8FB7-D4F8D47D80BA}"/>
              </a:ext>
            </a:extLst>
          </p:cNvPr>
          <p:cNvSpPr/>
          <p:nvPr/>
        </p:nvSpPr>
        <p:spPr>
          <a:xfrm>
            <a:off x="8193283" y="4361906"/>
            <a:ext cx="1412707" cy="11811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i="1" dirty="0">
                <a:solidFill>
                  <a:schemeClr val="bg1"/>
                </a:solidFill>
                <a:latin typeface="Calibri" panose="020F0502020204030204" pitchFamily="34" charset="0"/>
              </a:rPr>
              <a:t>Photo </a:t>
            </a:r>
          </a:p>
          <a:p>
            <a:pPr algn="ctr"/>
            <a:r>
              <a:rPr lang="en-IN" sz="1100" i="1" dirty="0">
                <a:solidFill>
                  <a:schemeClr val="bg1"/>
                </a:solidFill>
                <a:latin typeface="Calibri" panose="020F0502020204030204" pitchFamily="34" charset="0"/>
              </a:rPr>
              <a:t>(Student 3)</a:t>
            </a:r>
          </a:p>
        </p:txBody>
      </p:sp>
      <p:sp>
        <p:nvSpPr>
          <p:cNvPr id="30" name="Rectangle 29">
            <a:extLst>
              <a:ext uri="{FF2B5EF4-FFF2-40B4-BE49-F238E27FC236}">
                <a16:creationId xmlns:a16="http://schemas.microsoft.com/office/drawing/2014/main" id="{5C606D7F-1D64-4B36-B13E-A7BAF1E0B877}"/>
              </a:ext>
            </a:extLst>
          </p:cNvPr>
          <p:cNvSpPr/>
          <p:nvPr/>
        </p:nvSpPr>
        <p:spPr>
          <a:xfrm>
            <a:off x="10128582" y="4361906"/>
            <a:ext cx="1412707" cy="11811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i="1" dirty="0">
                <a:solidFill>
                  <a:schemeClr val="bg1"/>
                </a:solidFill>
                <a:latin typeface="Calibri" panose="020F0502020204030204" pitchFamily="34" charset="0"/>
              </a:rPr>
              <a:t>Photo </a:t>
            </a:r>
          </a:p>
          <a:p>
            <a:pPr algn="ctr"/>
            <a:r>
              <a:rPr lang="en-IN" sz="1100" i="1" dirty="0">
                <a:solidFill>
                  <a:schemeClr val="bg1"/>
                </a:solidFill>
                <a:latin typeface="Calibri" panose="020F0502020204030204" pitchFamily="34" charset="0"/>
              </a:rPr>
              <a:t>(Student 3)</a:t>
            </a:r>
          </a:p>
        </p:txBody>
      </p:sp>
      <p:sp>
        <p:nvSpPr>
          <p:cNvPr id="32" name="TextBox 31">
            <a:extLst>
              <a:ext uri="{FF2B5EF4-FFF2-40B4-BE49-F238E27FC236}">
                <a16:creationId xmlns:a16="http://schemas.microsoft.com/office/drawing/2014/main" id="{82D8DBE3-A090-47A8-9A12-7C04669B8CBA}"/>
              </a:ext>
            </a:extLst>
          </p:cNvPr>
          <p:cNvSpPr txBox="1"/>
          <p:nvPr/>
        </p:nvSpPr>
        <p:spPr>
          <a:xfrm>
            <a:off x="2375499" y="5624128"/>
            <a:ext cx="1442592" cy="830997"/>
          </a:xfrm>
          <a:prstGeom prst="rect">
            <a:avLst/>
          </a:prstGeom>
          <a:noFill/>
        </p:spPr>
        <p:txBody>
          <a:bodyPr wrap="square" rtlCol="0">
            <a:spAutoFit/>
          </a:bodyPr>
          <a:lstStyle/>
          <a:p>
            <a:pPr algn="ctr"/>
            <a:r>
              <a:rPr lang="en-IN" sz="1600" b="1" dirty="0">
                <a:solidFill>
                  <a:srgbClr val="002060"/>
                </a:solidFill>
                <a:latin typeface="Calibri" panose="020F0502020204030204" pitchFamily="34" charset="0"/>
              </a:rPr>
              <a:t>Student Name</a:t>
            </a:r>
          </a:p>
          <a:p>
            <a:pPr algn="ctr"/>
            <a:r>
              <a:rPr lang="en-US" sz="1600" b="1" dirty="0">
                <a:solidFill>
                  <a:srgbClr val="002060"/>
                </a:solidFill>
                <a:latin typeface="Calibri" panose="020F0502020204030204" pitchFamily="34" charset="0"/>
              </a:rPr>
              <a:t>V</a:t>
            </a:r>
            <a:r>
              <a:rPr lang="en-IN" sz="1600" b="1" dirty="0">
                <a:solidFill>
                  <a:srgbClr val="002060"/>
                </a:solidFill>
                <a:latin typeface="Calibri" panose="020F0502020204030204" pitchFamily="34" charset="0"/>
              </a:rPr>
              <a:t>TU No.</a:t>
            </a:r>
          </a:p>
          <a:p>
            <a:pPr algn="ctr"/>
            <a:r>
              <a:rPr lang="en-US" sz="1600" b="1" dirty="0">
                <a:solidFill>
                  <a:srgbClr val="002060"/>
                </a:solidFill>
                <a:latin typeface="Calibri" panose="020F0502020204030204" pitchFamily="34" charset="0"/>
              </a:rPr>
              <a:t>Dept.</a:t>
            </a:r>
            <a:endParaRPr lang="en-IN" sz="2000" b="1" dirty="0">
              <a:solidFill>
                <a:srgbClr val="002060"/>
              </a:solidFill>
            </a:endParaRPr>
          </a:p>
        </p:txBody>
      </p:sp>
      <p:sp>
        <p:nvSpPr>
          <p:cNvPr id="33" name="TextBox 32">
            <a:extLst>
              <a:ext uri="{FF2B5EF4-FFF2-40B4-BE49-F238E27FC236}">
                <a16:creationId xmlns:a16="http://schemas.microsoft.com/office/drawing/2014/main" id="{025C312E-5FAA-4E66-B087-5A8E8C26EC67}"/>
              </a:ext>
            </a:extLst>
          </p:cNvPr>
          <p:cNvSpPr txBox="1"/>
          <p:nvPr/>
        </p:nvSpPr>
        <p:spPr>
          <a:xfrm>
            <a:off x="4309270" y="5619714"/>
            <a:ext cx="1442592" cy="830997"/>
          </a:xfrm>
          <a:prstGeom prst="rect">
            <a:avLst/>
          </a:prstGeom>
          <a:noFill/>
        </p:spPr>
        <p:txBody>
          <a:bodyPr wrap="square" rtlCol="0">
            <a:spAutoFit/>
          </a:bodyPr>
          <a:lstStyle/>
          <a:p>
            <a:pPr algn="ctr"/>
            <a:r>
              <a:rPr lang="en-IN" sz="1600" b="1" dirty="0">
                <a:solidFill>
                  <a:srgbClr val="002060"/>
                </a:solidFill>
                <a:latin typeface="Calibri" panose="020F0502020204030204" pitchFamily="34" charset="0"/>
              </a:rPr>
              <a:t>Student Name</a:t>
            </a:r>
          </a:p>
          <a:p>
            <a:pPr algn="ctr"/>
            <a:r>
              <a:rPr lang="en-US" sz="1600" b="1" dirty="0">
                <a:solidFill>
                  <a:srgbClr val="002060"/>
                </a:solidFill>
                <a:latin typeface="Calibri" panose="020F0502020204030204" pitchFamily="34" charset="0"/>
              </a:rPr>
              <a:t>V</a:t>
            </a:r>
            <a:r>
              <a:rPr lang="en-IN" sz="1600" b="1" dirty="0">
                <a:solidFill>
                  <a:srgbClr val="002060"/>
                </a:solidFill>
                <a:latin typeface="Calibri" panose="020F0502020204030204" pitchFamily="34" charset="0"/>
              </a:rPr>
              <a:t>TU No.</a:t>
            </a:r>
          </a:p>
          <a:p>
            <a:pPr algn="ctr"/>
            <a:r>
              <a:rPr lang="en-US" sz="1600" b="1" dirty="0">
                <a:solidFill>
                  <a:srgbClr val="002060"/>
                </a:solidFill>
                <a:latin typeface="Calibri" panose="020F0502020204030204" pitchFamily="34" charset="0"/>
              </a:rPr>
              <a:t>Dept.</a:t>
            </a:r>
            <a:endParaRPr lang="en-IN" sz="2000" b="1" dirty="0">
              <a:solidFill>
                <a:srgbClr val="002060"/>
              </a:solidFill>
            </a:endParaRPr>
          </a:p>
        </p:txBody>
      </p:sp>
      <p:sp>
        <p:nvSpPr>
          <p:cNvPr id="34" name="TextBox 33">
            <a:extLst>
              <a:ext uri="{FF2B5EF4-FFF2-40B4-BE49-F238E27FC236}">
                <a16:creationId xmlns:a16="http://schemas.microsoft.com/office/drawing/2014/main" id="{36BEFE8B-B667-43B2-8F5B-BB18752EEFB4}"/>
              </a:ext>
            </a:extLst>
          </p:cNvPr>
          <p:cNvSpPr txBox="1"/>
          <p:nvPr/>
        </p:nvSpPr>
        <p:spPr>
          <a:xfrm>
            <a:off x="6243041" y="5619714"/>
            <a:ext cx="1442592" cy="830997"/>
          </a:xfrm>
          <a:prstGeom prst="rect">
            <a:avLst/>
          </a:prstGeom>
          <a:noFill/>
        </p:spPr>
        <p:txBody>
          <a:bodyPr wrap="square" rtlCol="0">
            <a:spAutoFit/>
          </a:bodyPr>
          <a:lstStyle/>
          <a:p>
            <a:pPr algn="ctr"/>
            <a:r>
              <a:rPr lang="en-IN" sz="1600" b="1" dirty="0">
                <a:solidFill>
                  <a:srgbClr val="002060"/>
                </a:solidFill>
                <a:latin typeface="Calibri" panose="020F0502020204030204" pitchFamily="34" charset="0"/>
              </a:rPr>
              <a:t>Student Name</a:t>
            </a:r>
          </a:p>
          <a:p>
            <a:pPr algn="ctr"/>
            <a:r>
              <a:rPr lang="en-US" sz="1600" b="1" dirty="0">
                <a:solidFill>
                  <a:srgbClr val="002060"/>
                </a:solidFill>
                <a:latin typeface="Calibri" panose="020F0502020204030204" pitchFamily="34" charset="0"/>
              </a:rPr>
              <a:t>V</a:t>
            </a:r>
            <a:r>
              <a:rPr lang="en-IN" sz="1600" b="1" dirty="0">
                <a:solidFill>
                  <a:srgbClr val="002060"/>
                </a:solidFill>
                <a:latin typeface="Calibri" panose="020F0502020204030204" pitchFamily="34" charset="0"/>
              </a:rPr>
              <a:t>TU No.</a:t>
            </a:r>
          </a:p>
          <a:p>
            <a:pPr algn="ctr"/>
            <a:r>
              <a:rPr lang="en-US" sz="1600" b="1" dirty="0">
                <a:solidFill>
                  <a:srgbClr val="002060"/>
                </a:solidFill>
                <a:latin typeface="Calibri" panose="020F0502020204030204" pitchFamily="34" charset="0"/>
              </a:rPr>
              <a:t>Dept.</a:t>
            </a:r>
            <a:endParaRPr lang="en-IN" sz="2000" b="1" dirty="0">
              <a:solidFill>
                <a:srgbClr val="002060"/>
              </a:solidFill>
            </a:endParaRPr>
          </a:p>
        </p:txBody>
      </p:sp>
      <p:sp>
        <p:nvSpPr>
          <p:cNvPr id="35" name="TextBox 34">
            <a:extLst>
              <a:ext uri="{FF2B5EF4-FFF2-40B4-BE49-F238E27FC236}">
                <a16:creationId xmlns:a16="http://schemas.microsoft.com/office/drawing/2014/main" id="{87A1F329-E640-4C2E-B51E-F1A8BFA93395}"/>
              </a:ext>
            </a:extLst>
          </p:cNvPr>
          <p:cNvSpPr txBox="1"/>
          <p:nvPr/>
        </p:nvSpPr>
        <p:spPr>
          <a:xfrm>
            <a:off x="8252291" y="5619714"/>
            <a:ext cx="1442592" cy="830997"/>
          </a:xfrm>
          <a:prstGeom prst="rect">
            <a:avLst/>
          </a:prstGeom>
          <a:noFill/>
        </p:spPr>
        <p:txBody>
          <a:bodyPr wrap="square" rtlCol="0">
            <a:spAutoFit/>
          </a:bodyPr>
          <a:lstStyle/>
          <a:p>
            <a:pPr algn="ctr"/>
            <a:r>
              <a:rPr lang="en-IN" sz="1600" b="1" dirty="0">
                <a:solidFill>
                  <a:srgbClr val="002060"/>
                </a:solidFill>
                <a:latin typeface="Calibri" panose="020F0502020204030204" pitchFamily="34" charset="0"/>
              </a:rPr>
              <a:t>Student Name</a:t>
            </a:r>
          </a:p>
          <a:p>
            <a:pPr algn="ctr"/>
            <a:r>
              <a:rPr lang="en-US" sz="1600" b="1" dirty="0">
                <a:solidFill>
                  <a:srgbClr val="002060"/>
                </a:solidFill>
                <a:latin typeface="Calibri" panose="020F0502020204030204" pitchFamily="34" charset="0"/>
              </a:rPr>
              <a:t>V</a:t>
            </a:r>
            <a:r>
              <a:rPr lang="en-IN" sz="1600" b="1" dirty="0">
                <a:solidFill>
                  <a:srgbClr val="002060"/>
                </a:solidFill>
                <a:latin typeface="Calibri" panose="020F0502020204030204" pitchFamily="34" charset="0"/>
              </a:rPr>
              <a:t>TU No.</a:t>
            </a:r>
          </a:p>
          <a:p>
            <a:pPr algn="ctr"/>
            <a:r>
              <a:rPr lang="en-US" sz="1600" b="1" dirty="0">
                <a:solidFill>
                  <a:srgbClr val="002060"/>
                </a:solidFill>
                <a:latin typeface="Calibri" panose="020F0502020204030204" pitchFamily="34" charset="0"/>
              </a:rPr>
              <a:t>Dept.</a:t>
            </a:r>
            <a:endParaRPr lang="en-IN" sz="2000" b="1" dirty="0">
              <a:solidFill>
                <a:srgbClr val="002060"/>
              </a:solidFill>
            </a:endParaRPr>
          </a:p>
        </p:txBody>
      </p:sp>
      <p:sp>
        <p:nvSpPr>
          <p:cNvPr id="36" name="TextBox 35">
            <a:extLst>
              <a:ext uri="{FF2B5EF4-FFF2-40B4-BE49-F238E27FC236}">
                <a16:creationId xmlns:a16="http://schemas.microsoft.com/office/drawing/2014/main" id="{142D6377-EA22-414C-A2D2-0E00B8171C33}"/>
              </a:ext>
            </a:extLst>
          </p:cNvPr>
          <p:cNvSpPr txBox="1"/>
          <p:nvPr/>
        </p:nvSpPr>
        <p:spPr>
          <a:xfrm>
            <a:off x="10113639" y="5619714"/>
            <a:ext cx="1442592" cy="830997"/>
          </a:xfrm>
          <a:prstGeom prst="rect">
            <a:avLst/>
          </a:prstGeom>
          <a:noFill/>
        </p:spPr>
        <p:txBody>
          <a:bodyPr wrap="square" rtlCol="0">
            <a:spAutoFit/>
          </a:bodyPr>
          <a:lstStyle/>
          <a:p>
            <a:pPr algn="ctr"/>
            <a:r>
              <a:rPr lang="en-IN" sz="1600" b="1" dirty="0">
                <a:solidFill>
                  <a:srgbClr val="002060"/>
                </a:solidFill>
                <a:latin typeface="Calibri" panose="020F0502020204030204" pitchFamily="34" charset="0"/>
              </a:rPr>
              <a:t>Student Name</a:t>
            </a:r>
          </a:p>
          <a:p>
            <a:pPr algn="ctr"/>
            <a:r>
              <a:rPr lang="en-US" sz="1600" b="1" dirty="0">
                <a:solidFill>
                  <a:srgbClr val="002060"/>
                </a:solidFill>
                <a:latin typeface="Calibri" panose="020F0502020204030204" pitchFamily="34" charset="0"/>
              </a:rPr>
              <a:t>V</a:t>
            </a:r>
            <a:r>
              <a:rPr lang="en-IN" sz="1600" b="1" dirty="0">
                <a:solidFill>
                  <a:srgbClr val="002060"/>
                </a:solidFill>
                <a:latin typeface="Calibri" panose="020F0502020204030204" pitchFamily="34" charset="0"/>
              </a:rPr>
              <a:t>TU No.</a:t>
            </a:r>
          </a:p>
          <a:p>
            <a:pPr algn="ctr"/>
            <a:r>
              <a:rPr lang="en-US" sz="1600" b="1" dirty="0">
                <a:solidFill>
                  <a:srgbClr val="002060"/>
                </a:solidFill>
                <a:latin typeface="Calibri" panose="020F0502020204030204" pitchFamily="34" charset="0"/>
              </a:rPr>
              <a:t>Dept.</a:t>
            </a:r>
            <a:endParaRPr lang="en-IN" sz="2000" b="1" dirty="0">
              <a:solidFill>
                <a:srgbClr val="002060"/>
              </a:solidFill>
            </a:endParaRPr>
          </a:p>
        </p:txBody>
      </p:sp>
      <p:sp>
        <p:nvSpPr>
          <p:cNvPr id="37" name="Title 1">
            <a:extLst>
              <a:ext uri="{FF2B5EF4-FFF2-40B4-BE49-F238E27FC236}">
                <a16:creationId xmlns:a16="http://schemas.microsoft.com/office/drawing/2014/main" id="{330012A1-234C-42D0-A54A-A4222E8157D9}"/>
              </a:ext>
            </a:extLst>
          </p:cNvPr>
          <p:cNvSpPr txBox="1">
            <a:spLocks/>
          </p:cNvSpPr>
          <p:nvPr/>
        </p:nvSpPr>
        <p:spPr>
          <a:xfrm>
            <a:off x="7219300" y="1821872"/>
            <a:ext cx="4824325" cy="2180604"/>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solidFill>
                  <a:srgbClr val="C00000"/>
                </a:solidFill>
                <a:latin typeface="Gill Sans MT" panose="020B0502020104020203" pitchFamily="34" charset="0"/>
              </a:rPr>
              <a:t>Problem Statement Title</a:t>
            </a:r>
          </a:p>
          <a:p>
            <a:endParaRPr lang="en-IN" sz="3200" dirty="0">
              <a:solidFill>
                <a:srgbClr val="C00000"/>
              </a:solidFill>
              <a:latin typeface="Gill Sans MT" panose="020B0502020104020203" pitchFamily="34" charset="0"/>
            </a:endParaRPr>
          </a:p>
        </p:txBody>
      </p:sp>
    </p:spTree>
    <p:extLst>
      <p:ext uri="{BB962C8B-B14F-4D97-AF65-F5344CB8AC3E}">
        <p14:creationId xmlns:p14="http://schemas.microsoft.com/office/powerpoint/2010/main" val="2304177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IN" dirty="0"/>
            </a:br>
            <a:endParaRPr lang="en-IN" dirty="0"/>
          </a:p>
        </p:txBody>
      </p:sp>
      <p:sp>
        <p:nvSpPr>
          <p:cNvPr id="4" name="Rectangle 3"/>
          <p:cNvSpPr/>
          <p:nvPr/>
        </p:nvSpPr>
        <p:spPr>
          <a:xfrm>
            <a:off x="443794" y="1219589"/>
            <a:ext cx="1437257" cy="523220"/>
          </a:xfrm>
          <a:prstGeom prst="rect">
            <a:avLst/>
          </a:prstGeom>
        </p:spPr>
        <p:txBody>
          <a:bodyPr wrap="square">
            <a:spAutoFit/>
          </a:bodyPr>
          <a:lstStyle/>
          <a:p>
            <a:r>
              <a:rPr lang="en-IN" sz="2800" dirty="0">
                <a:solidFill>
                  <a:srgbClr val="C00000"/>
                </a:solidFill>
              </a:rPr>
              <a:t>Index</a:t>
            </a:r>
          </a:p>
        </p:txBody>
      </p:sp>
      <p:pic>
        <p:nvPicPr>
          <p:cNvPr id="6"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7214" y="0"/>
            <a:ext cx="2835142" cy="1293223"/>
          </a:xfrm>
          <a:prstGeom prst="rect">
            <a:avLst/>
          </a:prstGeom>
        </p:spPr>
      </p:pic>
      <p:sp>
        <p:nvSpPr>
          <p:cNvPr id="9" name="Rectangle 8"/>
          <p:cNvSpPr/>
          <p:nvPr/>
        </p:nvSpPr>
        <p:spPr>
          <a:xfrm>
            <a:off x="483324" y="1280158"/>
            <a:ext cx="11194869" cy="45719"/>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 Placeholder 2"/>
          <p:cNvSpPr txBox="1">
            <a:spLocks/>
          </p:cNvSpPr>
          <p:nvPr/>
        </p:nvSpPr>
        <p:spPr>
          <a:xfrm>
            <a:off x="1069656" y="1790295"/>
            <a:ext cx="5792697" cy="380576"/>
          </a:xfrm>
          <a:prstGeom prst="rect">
            <a:avLst/>
          </a:prstGeom>
          <a:solidFill>
            <a:srgbClr val="002060"/>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IN" sz="1600" b="1" dirty="0">
                <a:solidFill>
                  <a:schemeClr val="bg1"/>
                </a:solidFill>
              </a:rPr>
              <a:t>Problem Statement</a:t>
            </a:r>
          </a:p>
        </p:txBody>
      </p:sp>
      <p:sp>
        <p:nvSpPr>
          <p:cNvPr id="26" name="Rounded Rectangle 25"/>
          <p:cNvSpPr/>
          <p:nvPr/>
        </p:nvSpPr>
        <p:spPr>
          <a:xfrm>
            <a:off x="489041" y="1787691"/>
            <a:ext cx="522514" cy="378823"/>
          </a:xfrm>
          <a:prstGeom prst="roundRect">
            <a:avLst/>
          </a:prstGeom>
          <a:solidFill>
            <a:srgbClr val="9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endParaRPr lang="en-IN" dirty="0">
              <a:solidFill>
                <a:schemeClr val="bg1"/>
              </a:solidFill>
            </a:endParaRPr>
          </a:p>
        </p:txBody>
      </p:sp>
      <p:sp>
        <p:nvSpPr>
          <p:cNvPr id="27" name="Rounded Rectangle 26"/>
          <p:cNvSpPr/>
          <p:nvPr/>
        </p:nvSpPr>
        <p:spPr>
          <a:xfrm>
            <a:off x="482038" y="2291700"/>
            <a:ext cx="522514" cy="378823"/>
          </a:xfrm>
          <a:prstGeom prst="roundRect">
            <a:avLst/>
          </a:prstGeom>
          <a:solidFill>
            <a:srgbClr val="9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endParaRPr lang="en-IN" dirty="0">
              <a:solidFill>
                <a:schemeClr val="bg1"/>
              </a:solidFill>
            </a:endParaRPr>
          </a:p>
        </p:txBody>
      </p:sp>
      <p:sp>
        <p:nvSpPr>
          <p:cNvPr id="28" name="Rounded Rectangle 27"/>
          <p:cNvSpPr/>
          <p:nvPr/>
        </p:nvSpPr>
        <p:spPr>
          <a:xfrm>
            <a:off x="474566" y="2774208"/>
            <a:ext cx="522514" cy="378823"/>
          </a:xfrm>
          <a:prstGeom prst="roundRect">
            <a:avLst/>
          </a:prstGeom>
          <a:solidFill>
            <a:srgbClr val="9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endParaRPr lang="en-IN" dirty="0">
              <a:solidFill>
                <a:schemeClr val="bg1"/>
              </a:solidFill>
            </a:endParaRPr>
          </a:p>
        </p:txBody>
      </p:sp>
      <p:sp>
        <p:nvSpPr>
          <p:cNvPr id="29" name="Rounded Rectangle 28"/>
          <p:cNvSpPr/>
          <p:nvPr/>
        </p:nvSpPr>
        <p:spPr>
          <a:xfrm>
            <a:off x="474196" y="3257140"/>
            <a:ext cx="522514" cy="378823"/>
          </a:xfrm>
          <a:prstGeom prst="roundRect">
            <a:avLst/>
          </a:prstGeom>
          <a:solidFill>
            <a:srgbClr val="9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endParaRPr lang="en-IN" dirty="0">
              <a:solidFill>
                <a:schemeClr val="bg1"/>
              </a:solidFill>
            </a:endParaRPr>
          </a:p>
        </p:txBody>
      </p:sp>
      <p:sp>
        <p:nvSpPr>
          <p:cNvPr id="30" name="Rounded Rectangle 29"/>
          <p:cNvSpPr/>
          <p:nvPr/>
        </p:nvSpPr>
        <p:spPr>
          <a:xfrm>
            <a:off x="468284" y="3727676"/>
            <a:ext cx="522514" cy="378823"/>
          </a:xfrm>
          <a:prstGeom prst="roundRect">
            <a:avLst/>
          </a:prstGeom>
          <a:solidFill>
            <a:srgbClr val="9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a:t>
            </a:r>
            <a:endParaRPr lang="en-IN" dirty="0">
              <a:solidFill>
                <a:schemeClr val="bg1"/>
              </a:solidFill>
            </a:endParaRPr>
          </a:p>
        </p:txBody>
      </p:sp>
      <p:sp>
        <p:nvSpPr>
          <p:cNvPr id="31" name="Rounded Rectangle 30"/>
          <p:cNvSpPr/>
          <p:nvPr/>
        </p:nvSpPr>
        <p:spPr>
          <a:xfrm>
            <a:off x="457943" y="4217260"/>
            <a:ext cx="522514" cy="378823"/>
          </a:xfrm>
          <a:prstGeom prst="roundRect">
            <a:avLst/>
          </a:prstGeom>
          <a:solidFill>
            <a:srgbClr val="9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a:t>
            </a:r>
            <a:endParaRPr lang="en-IN" dirty="0">
              <a:solidFill>
                <a:schemeClr val="bg1"/>
              </a:solidFill>
            </a:endParaRPr>
          </a:p>
        </p:txBody>
      </p:sp>
      <p:sp>
        <p:nvSpPr>
          <p:cNvPr id="32" name="Rounded Rectangle 31"/>
          <p:cNvSpPr/>
          <p:nvPr/>
        </p:nvSpPr>
        <p:spPr>
          <a:xfrm>
            <a:off x="457572" y="4686286"/>
            <a:ext cx="522514" cy="378823"/>
          </a:xfrm>
          <a:prstGeom prst="roundRect">
            <a:avLst/>
          </a:prstGeom>
          <a:solidFill>
            <a:srgbClr val="9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7</a:t>
            </a:r>
            <a:endParaRPr lang="en-IN" dirty="0">
              <a:solidFill>
                <a:schemeClr val="bg1"/>
              </a:solidFill>
            </a:endParaRPr>
          </a:p>
        </p:txBody>
      </p:sp>
      <p:sp>
        <p:nvSpPr>
          <p:cNvPr id="33" name="Rounded Rectangle 32"/>
          <p:cNvSpPr/>
          <p:nvPr/>
        </p:nvSpPr>
        <p:spPr>
          <a:xfrm>
            <a:off x="460318" y="5156179"/>
            <a:ext cx="522514" cy="378823"/>
          </a:xfrm>
          <a:prstGeom prst="roundRect">
            <a:avLst/>
          </a:prstGeom>
          <a:solidFill>
            <a:srgbClr val="9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8</a:t>
            </a:r>
            <a:endParaRPr lang="en-IN" dirty="0">
              <a:solidFill>
                <a:schemeClr val="bg1"/>
              </a:solidFill>
            </a:endParaRPr>
          </a:p>
        </p:txBody>
      </p:sp>
      <p:sp>
        <p:nvSpPr>
          <p:cNvPr id="34" name="Rounded Rectangle 33"/>
          <p:cNvSpPr/>
          <p:nvPr/>
        </p:nvSpPr>
        <p:spPr>
          <a:xfrm>
            <a:off x="463485" y="5631166"/>
            <a:ext cx="522514" cy="378823"/>
          </a:xfrm>
          <a:prstGeom prst="roundRect">
            <a:avLst/>
          </a:prstGeom>
          <a:solidFill>
            <a:srgbClr val="9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9</a:t>
            </a:r>
            <a:endParaRPr lang="en-IN" dirty="0">
              <a:solidFill>
                <a:schemeClr val="bg1"/>
              </a:solidFill>
            </a:endParaRPr>
          </a:p>
        </p:txBody>
      </p:sp>
      <p:sp>
        <p:nvSpPr>
          <p:cNvPr id="35" name="Rounded Rectangle 34"/>
          <p:cNvSpPr/>
          <p:nvPr/>
        </p:nvSpPr>
        <p:spPr>
          <a:xfrm>
            <a:off x="469769" y="6116570"/>
            <a:ext cx="522514" cy="378823"/>
          </a:xfrm>
          <a:prstGeom prst="roundRect">
            <a:avLst/>
          </a:prstGeom>
          <a:solidFill>
            <a:srgbClr val="9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endParaRPr lang="en-IN" dirty="0">
              <a:solidFill>
                <a:schemeClr val="bg1"/>
              </a:solidFill>
            </a:endParaRPr>
          </a:p>
        </p:txBody>
      </p:sp>
      <p:sp>
        <p:nvSpPr>
          <p:cNvPr id="36" name="Text Placeholder 2"/>
          <p:cNvSpPr txBox="1">
            <a:spLocks/>
          </p:cNvSpPr>
          <p:nvPr/>
        </p:nvSpPr>
        <p:spPr>
          <a:xfrm>
            <a:off x="1098231" y="2285594"/>
            <a:ext cx="5764123" cy="371051"/>
          </a:xfrm>
          <a:prstGeom prst="rect">
            <a:avLst/>
          </a:prstGeom>
          <a:solidFill>
            <a:srgbClr val="002060"/>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IN" sz="1600" b="1" dirty="0">
                <a:solidFill>
                  <a:schemeClr val="bg1"/>
                </a:solidFill>
              </a:rPr>
              <a:t>Concept of the Solution</a:t>
            </a:r>
          </a:p>
        </p:txBody>
      </p:sp>
      <p:sp>
        <p:nvSpPr>
          <p:cNvPr id="37" name="Text Placeholder 2"/>
          <p:cNvSpPr txBox="1">
            <a:spLocks/>
          </p:cNvSpPr>
          <p:nvPr/>
        </p:nvSpPr>
        <p:spPr>
          <a:xfrm>
            <a:off x="1098232" y="2780894"/>
            <a:ext cx="5764122" cy="371051"/>
          </a:xfrm>
          <a:prstGeom prst="rect">
            <a:avLst/>
          </a:prstGeom>
          <a:solidFill>
            <a:srgbClr val="002060"/>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IN" sz="1600" b="1" dirty="0">
                <a:solidFill>
                  <a:schemeClr val="bg1"/>
                </a:solidFill>
              </a:rPr>
              <a:t>Novelty / Scope of Solution</a:t>
            </a:r>
          </a:p>
        </p:txBody>
      </p:sp>
      <p:sp>
        <p:nvSpPr>
          <p:cNvPr id="38" name="Text Placeholder 2"/>
          <p:cNvSpPr txBox="1">
            <a:spLocks/>
          </p:cNvSpPr>
          <p:nvPr/>
        </p:nvSpPr>
        <p:spPr>
          <a:xfrm>
            <a:off x="1107757" y="3285720"/>
            <a:ext cx="5754598" cy="361526"/>
          </a:xfrm>
          <a:prstGeom prst="rect">
            <a:avLst/>
          </a:prstGeom>
          <a:solidFill>
            <a:srgbClr val="002060"/>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IN" sz="1600" b="1" dirty="0">
                <a:solidFill>
                  <a:schemeClr val="bg1"/>
                </a:solidFill>
              </a:rPr>
              <a:t>Pros and Cons of the solution</a:t>
            </a:r>
          </a:p>
        </p:txBody>
      </p:sp>
      <p:sp>
        <p:nvSpPr>
          <p:cNvPr id="39" name="Text Placeholder 2"/>
          <p:cNvSpPr txBox="1">
            <a:spLocks/>
          </p:cNvSpPr>
          <p:nvPr/>
        </p:nvSpPr>
        <p:spPr>
          <a:xfrm>
            <a:off x="1079182" y="4219169"/>
            <a:ext cx="5783174" cy="409539"/>
          </a:xfrm>
          <a:prstGeom prst="rect">
            <a:avLst/>
          </a:prstGeom>
          <a:solidFill>
            <a:srgbClr val="002060"/>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IN" sz="1600" b="1" dirty="0">
                <a:solidFill>
                  <a:schemeClr val="bg1"/>
                </a:solidFill>
              </a:rPr>
              <a:t>Implementation Plan or Working Model (as the case may be)</a:t>
            </a:r>
          </a:p>
        </p:txBody>
      </p:sp>
      <p:sp>
        <p:nvSpPr>
          <p:cNvPr id="40" name="Text Placeholder 2"/>
          <p:cNvSpPr txBox="1">
            <a:spLocks/>
          </p:cNvSpPr>
          <p:nvPr/>
        </p:nvSpPr>
        <p:spPr>
          <a:xfrm>
            <a:off x="1088706" y="3771494"/>
            <a:ext cx="5773649" cy="352001"/>
          </a:xfrm>
          <a:prstGeom prst="rect">
            <a:avLst/>
          </a:prstGeom>
          <a:solidFill>
            <a:srgbClr val="002060"/>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IN" sz="1600" b="1" dirty="0">
                <a:solidFill>
                  <a:schemeClr val="bg1"/>
                </a:solidFill>
              </a:rPr>
              <a:t>Technical Description</a:t>
            </a:r>
          </a:p>
        </p:txBody>
      </p:sp>
      <p:sp>
        <p:nvSpPr>
          <p:cNvPr id="41" name="Text Placeholder 2"/>
          <p:cNvSpPr txBox="1">
            <a:spLocks/>
          </p:cNvSpPr>
          <p:nvPr/>
        </p:nvSpPr>
        <p:spPr>
          <a:xfrm>
            <a:off x="1088707" y="4704944"/>
            <a:ext cx="5773646" cy="371051"/>
          </a:xfrm>
          <a:prstGeom prst="rect">
            <a:avLst/>
          </a:prstGeom>
          <a:solidFill>
            <a:srgbClr val="002060"/>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IN" sz="1600" b="1" dirty="0">
                <a:solidFill>
                  <a:schemeClr val="bg1"/>
                </a:solidFill>
              </a:rPr>
              <a:t>Validation/Testing/Analysis</a:t>
            </a:r>
          </a:p>
        </p:txBody>
      </p:sp>
      <p:sp>
        <p:nvSpPr>
          <p:cNvPr id="42" name="Text Placeholder 2"/>
          <p:cNvSpPr txBox="1">
            <a:spLocks/>
          </p:cNvSpPr>
          <p:nvPr/>
        </p:nvSpPr>
        <p:spPr>
          <a:xfrm>
            <a:off x="1079182" y="5162145"/>
            <a:ext cx="5783171" cy="380576"/>
          </a:xfrm>
          <a:prstGeom prst="rect">
            <a:avLst/>
          </a:prstGeom>
          <a:solidFill>
            <a:srgbClr val="002060"/>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IN" sz="1600" b="1" dirty="0">
                <a:solidFill>
                  <a:schemeClr val="bg1"/>
                </a:solidFill>
              </a:rPr>
              <a:t>Cost Estimate (If needed)</a:t>
            </a:r>
          </a:p>
        </p:txBody>
      </p:sp>
      <p:sp>
        <p:nvSpPr>
          <p:cNvPr id="43" name="Text Placeholder 2"/>
          <p:cNvSpPr txBox="1">
            <a:spLocks/>
          </p:cNvSpPr>
          <p:nvPr/>
        </p:nvSpPr>
        <p:spPr>
          <a:xfrm>
            <a:off x="1081606" y="5638395"/>
            <a:ext cx="5780747" cy="361526"/>
          </a:xfrm>
          <a:prstGeom prst="rect">
            <a:avLst/>
          </a:prstGeom>
          <a:solidFill>
            <a:srgbClr val="002060"/>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IN" sz="1600" b="1" dirty="0">
                <a:solidFill>
                  <a:schemeClr val="bg1"/>
                </a:solidFill>
              </a:rPr>
              <a:t>Assumptions(if any)</a:t>
            </a:r>
          </a:p>
        </p:txBody>
      </p:sp>
      <p:sp>
        <p:nvSpPr>
          <p:cNvPr id="44" name="Text Placeholder 2"/>
          <p:cNvSpPr txBox="1">
            <a:spLocks/>
          </p:cNvSpPr>
          <p:nvPr/>
        </p:nvSpPr>
        <p:spPr>
          <a:xfrm>
            <a:off x="1076064" y="6138370"/>
            <a:ext cx="5792697" cy="339531"/>
          </a:xfrm>
          <a:prstGeom prst="rect">
            <a:avLst/>
          </a:prstGeom>
          <a:solidFill>
            <a:srgbClr val="002060"/>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IN" sz="1600" b="1" dirty="0">
                <a:solidFill>
                  <a:schemeClr val="bg1"/>
                </a:solidFill>
              </a:rPr>
              <a:t>References</a:t>
            </a:r>
          </a:p>
        </p:txBody>
      </p:sp>
      <p:pic>
        <p:nvPicPr>
          <p:cNvPr id="45" name="Picture 44">
            <a:extLst>
              <a:ext uri="{FF2B5EF4-FFF2-40B4-BE49-F238E27FC236}">
                <a16:creationId xmlns:a16="http://schemas.microsoft.com/office/drawing/2014/main" id="{8A237A96-843C-49F5-B7EA-E56722AFC1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177" y="-27257"/>
            <a:ext cx="2835142" cy="1285467"/>
          </a:xfrm>
          <a:prstGeom prst="rect">
            <a:avLst/>
          </a:prstGeom>
        </p:spPr>
      </p:pic>
      <p:pic>
        <p:nvPicPr>
          <p:cNvPr id="46" name="Picture 45">
            <a:extLst>
              <a:ext uri="{FF2B5EF4-FFF2-40B4-BE49-F238E27FC236}">
                <a16:creationId xmlns:a16="http://schemas.microsoft.com/office/drawing/2014/main" id="{30239940-1B02-4D09-89A3-9B8D2DADA8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74282" y="48659"/>
            <a:ext cx="2135541" cy="1195903"/>
          </a:xfrm>
          <a:prstGeom prst="rect">
            <a:avLst/>
          </a:prstGeom>
        </p:spPr>
      </p:pic>
      <p:pic>
        <p:nvPicPr>
          <p:cNvPr id="47" name="Picture 46">
            <a:extLst>
              <a:ext uri="{FF2B5EF4-FFF2-40B4-BE49-F238E27FC236}">
                <a16:creationId xmlns:a16="http://schemas.microsoft.com/office/drawing/2014/main" id="{0FA06FDF-2703-4C0E-8508-9E9F14BBE70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72251" y="60604"/>
            <a:ext cx="1197606" cy="1197606"/>
          </a:xfrm>
          <a:prstGeom prst="rect">
            <a:avLst/>
          </a:prstGeom>
        </p:spPr>
      </p:pic>
    </p:spTree>
    <p:extLst>
      <p:ext uri="{BB962C8B-B14F-4D97-AF65-F5344CB8AC3E}">
        <p14:creationId xmlns:p14="http://schemas.microsoft.com/office/powerpoint/2010/main" val="1595227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IN" dirty="0"/>
            </a:br>
            <a:endParaRPr lang="en-IN" dirty="0"/>
          </a:p>
        </p:txBody>
      </p:sp>
      <p:sp>
        <p:nvSpPr>
          <p:cNvPr id="3" name="Content Placeholder 2"/>
          <p:cNvSpPr>
            <a:spLocks noGrp="1"/>
          </p:cNvSpPr>
          <p:nvPr>
            <p:ph idx="1"/>
          </p:nvPr>
        </p:nvSpPr>
        <p:spPr>
          <a:xfrm>
            <a:off x="252663" y="1825624"/>
            <a:ext cx="11634537" cy="4683459"/>
          </a:xfrm>
        </p:spPr>
        <p:txBody>
          <a:bodyPr/>
          <a:lstStyle/>
          <a:p>
            <a:pPr marL="0" indent="0">
              <a:buNone/>
            </a:pPr>
            <a:endParaRPr lang="en-IN" dirty="0"/>
          </a:p>
          <a:p>
            <a:pPr marL="0" indent="0">
              <a:buNone/>
            </a:pPr>
            <a:endParaRPr lang="en-IN" dirty="0"/>
          </a:p>
        </p:txBody>
      </p:sp>
      <p:pic>
        <p:nvPicPr>
          <p:cNvPr id="6"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4077" y="0"/>
            <a:ext cx="2835142" cy="1293223"/>
          </a:xfrm>
          <a:prstGeom prst="rect">
            <a:avLst/>
          </a:prstGeom>
        </p:spPr>
      </p:pic>
      <p:sp>
        <p:nvSpPr>
          <p:cNvPr id="9" name="Rectangle 8"/>
          <p:cNvSpPr/>
          <p:nvPr/>
        </p:nvSpPr>
        <p:spPr>
          <a:xfrm>
            <a:off x="483324" y="1244062"/>
            <a:ext cx="11194869" cy="45719"/>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Content Placeholder 3"/>
          <p:cNvSpPr txBox="1">
            <a:spLocks/>
          </p:cNvSpPr>
          <p:nvPr/>
        </p:nvSpPr>
        <p:spPr>
          <a:xfrm>
            <a:off x="509337" y="1508960"/>
            <a:ext cx="10956758" cy="50121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2500" dirty="0">
                <a:solidFill>
                  <a:srgbClr val="002060"/>
                </a:solidFill>
                <a:latin typeface="Times New Roman" panose="02020603050405020304" pitchFamily="18" charset="0"/>
                <a:cs typeface="Times New Roman" panose="02020603050405020304" pitchFamily="18" charset="0"/>
              </a:rPr>
              <a:t>Problem Statement</a:t>
            </a:r>
          </a:p>
          <a:p>
            <a:pPr>
              <a:buClr>
                <a:srgbClr val="C00000"/>
              </a:buClr>
            </a:pPr>
            <a:r>
              <a:rPr lang="en-IN" sz="2500" dirty="0">
                <a:solidFill>
                  <a:srgbClr val="002060"/>
                </a:solidFill>
                <a:latin typeface="Times New Roman" panose="02020603050405020304" pitchFamily="18" charset="0"/>
                <a:cs typeface="Times New Roman" panose="02020603050405020304" pitchFamily="18" charset="0"/>
              </a:rPr>
              <a:t>To create an anti-theft auto security system that can extract registration number plate of a moving vehicle.</a:t>
            </a:r>
          </a:p>
          <a:p>
            <a:pPr>
              <a:buClr>
                <a:srgbClr val="C00000"/>
              </a:buClr>
            </a:pPr>
            <a:r>
              <a:rPr lang="en-IN" sz="2500" dirty="0">
                <a:solidFill>
                  <a:srgbClr val="002060"/>
                </a:solidFill>
                <a:latin typeface="Times New Roman" panose="02020603050405020304" pitchFamily="18" charset="0"/>
                <a:cs typeface="Times New Roman" panose="02020603050405020304" pitchFamily="18" charset="0"/>
              </a:rPr>
              <a:t>To capture and transfer the data to cloud, which can be available for further analysis of theft or proof reading.</a:t>
            </a:r>
          </a:p>
          <a:p>
            <a:pPr>
              <a:buClr>
                <a:srgbClr val="C00000"/>
              </a:buClr>
            </a:pPr>
            <a:r>
              <a:rPr lang="en-IN" sz="2500" dirty="0">
                <a:solidFill>
                  <a:srgbClr val="002060"/>
                </a:solidFill>
                <a:latin typeface="Times New Roman" panose="02020603050405020304" pitchFamily="18" charset="0"/>
                <a:cs typeface="Times New Roman" panose="02020603050405020304" pitchFamily="18" charset="0"/>
              </a:rPr>
              <a:t>To track and monitor the real-time location of the vehicle fleet transporting the coal.</a:t>
            </a:r>
          </a:p>
        </p:txBody>
      </p:sp>
      <p:pic>
        <p:nvPicPr>
          <p:cNvPr id="11" name="Picture 10">
            <a:extLst>
              <a:ext uri="{FF2B5EF4-FFF2-40B4-BE49-F238E27FC236}">
                <a16:creationId xmlns:a16="http://schemas.microsoft.com/office/drawing/2014/main" id="{9EFC16F8-DA93-4B7E-A0B3-65DA2D8BAE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177" y="-27257"/>
            <a:ext cx="2835142" cy="1285467"/>
          </a:xfrm>
          <a:prstGeom prst="rect">
            <a:avLst/>
          </a:prstGeom>
        </p:spPr>
      </p:pic>
      <p:pic>
        <p:nvPicPr>
          <p:cNvPr id="12" name="Picture 11">
            <a:extLst>
              <a:ext uri="{FF2B5EF4-FFF2-40B4-BE49-F238E27FC236}">
                <a16:creationId xmlns:a16="http://schemas.microsoft.com/office/drawing/2014/main" id="{181C4040-42A3-4791-9730-EEB20AF4A5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74282" y="48659"/>
            <a:ext cx="2135541" cy="1195903"/>
          </a:xfrm>
          <a:prstGeom prst="rect">
            <a:avLst/>
          </a:prstGeom>
        </p:spPr>
      </p:pic>
      <p:pic>
        <p:nvPicPr>
          <p:cNvPr id="13" name="Picture 12">
            <a:extLst>
              <a:ext uri="{FF2B5EF4-FFF2-40B4-BE49-F238E27FC236}">
                <a16:creationId xmlns:a16="http://schemas.microsoft.com/office/drawing/2014/main" id="{31504F6D-2240-45AC-AAB7-590A394F25C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72251" y="60604"/>
            <a:ext cx="1197606" cy="1197606"/>
          </a:xfrm>
          <a:prstGeom prst="rect">
            <a:avLst/>
          </a:prstGeom>
        </p:spPr>
      </p:pic>
    </p:spTree>
    <p:extLst>
      <p:ext uri="{BB962C8B-B14F-4D97-AF65-F5344CB8AC3E}">
        <p14:creationId xmlns:p14="http://schemas.microsoft.com/office/powerpoint/2010/main" val="123043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IN" dirty="0"/>
            </a:br>
            <a:endParaRPr lang="en-IN" dirty="0"/>
          </a:p>
        </p:txBody>
      </p:sp>
      <p:sp>
        <p:nvSpPr>
          <p:cNvPr id="3" name="Content Placeholder 2"/>
          <p:cNvSpPr>
            <a:spLocks noGrp="1"/>
          </p:cNvSpPr>
          <p:nvPr>
            <p:ph idx="1"/>
          </p:nvPr>
        </p:nvSpPr>
        <p:spPr>
          <a:xfrm>
            <a:off x="252663" y="1825624"/>
            <a:ext cx="11634537" cy="4683459"/>
          </a:xfrm>
        </p:spPr>
        <p:txBody>
          <a:bodyPr/>
          <a:lstStyle/>
          <a:p>
            <a:pPr marL="0" indent="0">
              <a:buNone/>
            </a:pPr>
            <a:endParaRPr lang="en-IN" dirty="0"/>
          </a:p>
          <a:p>
            <a:pPr marL="0" indent="0">
              <a:buNone/>
            </a:pPr>
            <a:endParaRPr lang="en-IN" dirty="0"/>
          </a:p>
        </p:txBody>
      </p:sp>
      <p:pic>
        <p:nvPicPr>
          <p:cNvPr id="6"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4077" y="0"/>
            <a:ext cx="2835142" cy="1293223"/>
          </a:xfrm>
          <a:prstGeom prst="rect">
            <a:avLst/>
          </a:prstGeom>
        </p:spPr>
      </p:pic>
      <p:sp>
        <p:nvSpPr>
          <p:cNvPr id="9" name="Rectangle 8"/>
          <p:cNvSpPr/>
          <p:nvPr/>
        </p:nvSpPr>
        <p:spPr>
          <a:xfrm>
            <a:off x="483324" y="1244062"/>
            <a:ext cx="11194869" cy="45719"/>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Content Placeholder 3"/>
          <p:cNvSpPr txBox="1">
            <a:spLocks/>
          </p:cNvSpPr>
          <p:nvPr/>
        </p:nvSpPr>
        <p:spPr>
          <a:xfrm>
            <a:off x="509337" y="1508960"/>
            <a:ext cx="10956758" cy="50121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2500" dirty="0">
                <a:solidFill>
                  <a:srgbClr val="002060"/>
                </a:solidFill>
                <a:latin typeface="Times New Roman" panose="02020603050405020304" pitchFamily="18" charset="0"/>
                <a:cs typeface="Times New Roman" panose="02020603050405020304" pitchFamily="18" charset="0"/>
              </a:rPr>
              <a:t>Concept of the solution</a:t>
            </a:r>
          </a:p>
          <a:p>
            <a:pPr>
              <a:buClr>
                <a:srgbClr val="C00000"/>
              </a:buClr>
            </a:pPr>
            <a:r>
              <a:rPr lang="en-IN" sz="2500" dirty="0">
                <a:solidFill>
                  <a:srgbClr val="002060"/>
                </a:solidFill>
                <a:latin typeface="Times New Roman" panose="02020603050405020304" pitchFamily="18" charset="0"/>
                <a:cs typeface="Times New Roman" panose="02020603050405020304" pitchFamily="18" charset="0"/>
              </a:rPr>
              <a:t>The design of Convolutional neural network’s (CNNs) have resulted in significant increases in performance accuracies in many task.</a:t>
            </a:r>
          </a:p>
          <a:p>
            <a:pPr>
              <a:buClr>
                <a:srgbClr val="C00000"/>
              </a:buClr>
            </a:pPr>
            <a:r>
              <a:rPr lang="en-IN" sz="2500" dirty="0">
                <a:solidFill>
                  <a:srgbClr val="002060"/>
                </a:solidFill>
                <a:latin typeface="Times New Roman" panose="02020603050405020304" pitchFamily="18" charset="0"/>
                <a:cs typeface="Times New Roman" panose="02020603050405020304" pitchFamily="18" charset="0"/>
              </a:rPr>
              <a:t>The proposed model could harness the power of CNNs and capable of detecting and recognizing license number plates with low error rates.</a:t>
            </a:r>
          </a:p>
          <a:p>
            <a:pPr>
              <a:buClr>
                <a:srgbClr val="C00000"/>
              </a:buClr>
            </a:pPr>
            <a:r>
              <a:rPr lang="en-IN" sz="2500" dirty="0">
                <a:solidFill>
                  <a:srgbClr val="002060"/>
                </a:solidFill>
                <a:latin typeface="Times New Roman" panose="02020603050405020304" pitchFamily="18" charset="0"/>
                <a:cs typeface="Times New Roman" panose="02020603050405020304" pitchFamily="18" charset="0"/>
              </a:rPr>
              <a:t>The proposed algorithm is robust to variations in conditions and license plate templates which include size, design and formats.</a:t>
            </a:r>
          </a:p>
          <a:p>
            <a:pPr>
              <a:buClr>
                <a:srgbClr val="C00000"/>
              </a:buClr>
            </a:pPr>
            <a:r>
              <a:rPr lang="en-IN" sz="2500" dirty="0">
                <a:solidFill>
                  <a:srgbClr val="002060"/>
                </a:solidFill>
                <a:latin typeface="Times New Roman" panose="02020603050405020304" pitchFamily="18" charset="0"/>
                <a:cs typeface="Times New Roman" panose="02020603050405020304" pitchFamily="18" charset="0"/>
              </a:rPr>
              <a:t>This </a:t>
            </a:r>
            <a:r>
              <a:rPr lang="en-IN" sz="2500" dirty="0">
                <a:solidFill>
                  <a:srgbClr val="001642"/>
                </a:solidFill>
                <a:latin typeface="Times New Roman" panose="02020603050405020304" pitchFamily="18" charset="0"/>
                <a:cs typeface="Times New Roman" panose="02020603050405020304" pitchFamily="18" charset="0"/>
              </a:rPr>
              <a:t>proposed</a:t>
            </a:r>
            <a:r>
              <a:rPr lang="en-IN" sz="2500" dirty="0">
                <a:solidFill>
                  <a:srgbClr val="002060"/>
                </a:solidFill>
                <a:latin typeface="Times New Roman" panose="02020603050405020304" pitchFamily="18" charset="0"/>
                <a:cs typeface="Times New Roman" panose="02020603050405020304" pitchFamily="18" charset="0"/>
              </a:rPr>
              <a:t> model uses fully automated license plate recognition (ALPR) which use optical character recognition(OCR) on images to read and extract the vehicle data. </a:t>
            </a:r>
          </a:p>
        </p:txBody>
      </p:sp>
      <p:pic>
        <p:nvPicPr>
          <p:cNvPr id="10" name="Picture 9">
            <a:extLst>
              <a:ext uri="{FF2B5EF4-FFF2-40B4-BE49-F238E27FC236}">
                <a16:creationId xmlns:a16="http://schemas.microsoft.com/office/drawing/2014/main" id="{0854E02B-5FA2-4A5C-9CCC-E7910DCA4C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177" y="-27257"/>
            <a:ext cx="2835142" cy="1285467"/>
          </a:xfrm>
          <a:prstGeom prst="rect">
            <a:avLst/>
          </a:prstGeom>
        </p:spPr>
      </p:pic>
      <p:pic>
        <p:nvPicPr>
          <p:cNvPr id="12" name="Picture 11">
            <a:extLst>
              <a:ext uri="{FF2B5EF4-FFF2-40B4-BE49-F238E27FC236}">
                <a16:creationId xmlns:a16="http://schemas.microsoft.com/office/drawing/2014/main" id="{A54CE89F-F5A0-4F4A-875F-12BB2BB5F9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74282" y="48659"/>
            <a:ext cx="2135541" cy="1195903"/>
          </a:xfrm>
          <a:prstGeom prst="rect">
            <a:avLst/>
          </a:prstGeom>
        </p:spPr>
      </p:pic>
      <p:pic>
        <p:nvPicPr>
          <p:cNvPr id="13" name="Picture 12">
            <a:extLst>
              <a:ext uri="{FF2B5EF4-FFF2-40B4-BE49-F238E27FC236}">
                <a16:creationId xmlns:a16="http://schemas.microsoft.com/office/drawing/2014/main" id="{2EB4C842-629F-4E08-AD0F-FA2559AD81C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72251" y="60604"/>
            <a:ext cx="1197606" cy="1197606"/>
          </a:xfrm>
          <a:prstGeom prst="rect">
            <a:avLst/>
          </a:prstGeom>
        </p:spPr>
      </p:pic>
    </p:spTree>
    <p:extLst>
      <p:ext uri="{BB962C8B-B14F-4D97-AF65-F5344CB8AC3E}">
        <p14:creationId xmlns:p14="http://schemas.microsoft.com/office/powerpoint/2010/main" val="3507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IN" dirty="0"/>
            </a:br>
            <a:endParaRPr lang="en-IN" dirty="0"/>
          </a:p>
        </p:txBody>
      </p:sp>
      <p:sp>
        <p:nvSpPr>
          <p:cNvPr id="3" name="Content Placeholder 2"/>
          <p:cNvSpPr>
            <a:spLocks noGrp="1"/>
          </p:cNvSpPr>
          <p:nvPr>
            <p:ph idx="1"/>
          </p:nvPr>
        </p:nvSpPr>
        <p:spPr>
          <a:xfrm>
            <a:off x="252663" y="1825624"/>
            <a:ext cx="11634537" cy="4683459"/>
          </a:xfrm>
        </p:spPr>
        <p:txBody>
          <a:bodyPr/>
          <a:lstStyle/>
          <a:p>
            <a:pPr marL="0" indent="0">
              <a:buNone/>
            </a:pPr>
            <a:endParaRPr lang="en-IN" dirty="0"/>
          </a:p>
          <a:p>
            <a:pPr marL="0" indent="0">
              <a:buNone/>
            </a:pPr>
            <a:endParaRPr lang="en-IN" dirty="0"/>
          </a:p>
        </p:txBody>
      </p:sp>
      <p:pic>
        <p:nvPicPr>
          <p:cNvPr id="6"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4077" y="0"/>
            <a:ext cx="2835142" cy="1293223"/>
          </a:xfrm>
          <a:prstGeom prst="rect">
            <a:avLst/>
          </a:prstGeom>
        </p:spPr>
      </p:pic>
      <p:sp>
        <p:nvSpPr>
          <p:cNvPr id="9" name="Rectangle 8"/>
          <p:cNvSpPr/>
          <p:nvPr/>
        </p:nvSpPr>
        <p:spPr>
          <a:xfrm>
            <a:off x="483324" y="1244062"/>
            <a:ext cx="11194869" cy="45719"/>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Content Placeholder 3"/>
          <p:cNvSpPr txBox="1">
            <a:spLocks/>
          </p:cNvSpPr>
          <p:nvPr/>
        </p:nvSpPr>
        <p:spPr>
          <a:xfrm>
            <a:off x="509337" y="1508960"/>
            <a:ext cx="10956758" cy="50121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2500" dirty="0">
                <a:solidFill>
                  <a:srgbClr val="002060"/>
                </a:solidFill>
              </a:rPr>
              <a:t>Novelty / Scope of Solution</a:t>
            </a:r>
          </a:p>
          <a:p>
            <a:pPr>
              <a:buClr>
                <a:srgbClr val="C00000"/>
              </a:buClr>
            </a:pPr>
            <a:r>
              <a:rPr lang="en-IN" sz="2500" dirty="0">
                <a:solidFill>
                  <a:srgbClr val="002060"/>
                </a:solidFill>
                <a:latin typeface="Times New Roman" panose="02020603050405020304" pitchFamily="18" charset="0"/>
                <a:cs typeface="Times New Roman" panose="02020603050405020304" pitchFamily="18" charset="0"/>
              </a:rPr>
              <a:t>The</a:t>
            </a:r>
            <a:r>
              <a:rPr lang="en-IN" sz="2500" dirty="0">
                <a:solidFill>
                  <a:srgbClr val="001642"/>
                </a:solidFill>
                <a:latin typeface="Times New Roman" panose="02020603050405020304" pitchFamily="18" charset="0"/>
                <a:cs typeface="Times New Roman" panose="02020603050405020304" pitchFamily="18" charset="0"/>
              </a:rPr>
              <a:t> core technology of our system is built using a sequence of deep CNNs interlaced with accurate and efficient algorithms.</a:t>
            </a:r>
          </a:p>
          <a:p>
            <a:pPr>
              <a:buClr>
                <a:srgbClr val="C00000"/>
              </a:buClr>
            </a:pPr>
            <a:r>
              <a:rPr lang="en-IN" sz="2500" dirty="0">
                <a:solidFill>
                  <a:srgbClr val="001642"/>
                </a:solidFill>
                <a:latin typeface="Times New Roman" panose="02020603050405020304" pitchFamily="18" charset="0"/>
                <a:cs typeface="Times New Roman" panose="02020603050405020304" pitchFamily="18" charset="0"/>
              </a:rPr>
              <a:t>The CNNs are well trained and modified so that they are robust under different conditions and can work across a variety of templates which include variations in size, backgrounds and fonts.</a:t>
            </a:r>
          </a:p>
          <a:p>
            <a:pPr>
              <a:buClr>
                <a:srgbClr val="C00000"/>
              </a:buClr>
            </a:pPr>
            <a:r>
              <a:rPr lang="en-IN" sz="2500" dirty="0">
                <a:solidFill>
                  <a:srgbClr val="001642"/>
                </a:solidFill>
                <a:latin typeface="Times New Roman" panose="02020603050405020304" pitchFamily="18" charset="0"/>
                <a:cs typeface="Times New Roman" panose="02020603050405020304" pitchFamily="18" charset="0"/>
              </a:rPr>
              <a:t>The solution demonstrates an end-to-end license plate detection and recognition along with a novel deep CNNs.</a:t>
            </a:r>
          </a:p>
          <a:p>
            <a:pPr>
              <a:buClr>
                <a:srgbClr val="C00000"/>
              </a:buClr>
            </a:pPr>
            <a:endParaRPr lang="en-IN" sz="2500" dirty="0">
              <a:solidFill>
                <a:srgbClr val="001642"/>
              </a:solidFill>
              <a:latin typeface="Times New Roman" panose="02020603050405020304" pitchFamily="18" charset="0"/>
              <a:cs typeface="Times New Roman" panose="02020603050405020304" pitchFamily="18" charset="0"/>
            </a:endParaRPr>
          </a:p>
          <a:p>
            <a:pPr>
              <a:buClr>
                <a:srgbClr val="C00000"/>
              </a:buClr>
            </a:pPr>
            <a:endParaRPr lang="en-IN" sz="2500" dirty="0">
              <a:solidFill>
                <a:srgbClr val="001642"/>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CF243CB9-8F85-4DEC-818C-FD4AD3C9F2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177" y="-27257"/>
            <a:ext cx="2835142" cy="1285467"/>
          </a:xfrm>
          <a:prstGeom prst="rect">
            <a:avLst/>
          </a:prstGeom>
        </p:spPr>
      </p:pic>
      <p:pic>
        <p:nvPicPr>
          <p:cNvPr id="12" name="Picture 11">
            <a:extLst>
              <a:ext uri="{FF2B5EF4-FFF2-40B4-BE49-F238E27FC236}">
                <a16:creationId xmlns:a16="http://schemas.microsoft.com/office/drawing/2014/main" id="{9D36BFFA-F98A-46B6-93A7-77C9440CD1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74282" y="48659"/>
            <a:ext cx="2135541" cy="1195903"/>
          </a:xfrm>
          <a:prstGeom prst="rect">
            <a:avLst/>
          </a:prstGeom>
        </p:spPr>
      </p:pic>
      <p:pic>
        <p:nvPicPr>
          <p:cNvPr id="13" name="Picture 12">
            <a:extLst>
              <a:ext uri="{FF2B5EF4-FFF2-40B4-BE49-F238E27FC236}">
                <a16:creationId xmlns:a16="http://schemas.microsoft.com/office/drawing/2014/main" id="{84EE5EEE-280F-4A3F-AE0D-BD727F619FF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72251" y="60604"/>
            <a:ext cx="1197606" cy="1197606"/>
          </a:xfrm>
          <a:prstGeom prst="rect">
            <a:avLst/>
          </a:prstGeom>
        </p:spPr>
      </p:pic>
    </p:spTree>
    <p:extLst>
      <p:ext uri="{BB962C8B-B14F-4D97-AF65-F5344CB8AC3E}">
        <p14:creationId xmlns:p14="http://schemas.microsoft.com/office/powerpoint/2010/main" val="2190372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IN" dirty="0"/>
            </a:br>
            <a:endParaRPr lang="en-IN" dirty="0"/>
          </a:p>
        </p:txBody>
      </p:sp>
      <p:sp>
        <p:nvSpPr>
          <p:cNvPr id="3" name="Content Placeholder 2"/>
          <p:cNvSpPr>
            <a:spLocks noGrp="1"/>
          </p:cNvSpPr>
          <p:nvPr>
            <p:ph idx="1"/>
          </p:nvPr>
        </p:nvSpPr>
        <p:spPr>
          <a:xfrm>
            <a:off x="252663" y="1825624"/>
            <a:ext cx="11634537" cy="4683459"/>
          </a:xfrm>
        </p:spPr>
        <p:txBody>
          <a:bodyPr/>
          <a:lstStyle/>
          <a:p>
            <a:pPr marL="0" indent="0">
              <a:buNone/>
            </a:pPr>
            <a:endParaRPr lang="en-IN" dirty="0"/>
          </a:p>
          <a:p>
            <a:pPr marL="0" indent="0">
              <a:buNone/>
            </a:pPr>
            <a:endParaRPr lang="en-IN" dirty="0"/>
          </a:p>
        </p:txBody>
      </p:sp>
      <p:pic>
        <p:nvPicPr>
          <p:cNvPr id="6"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4077" y="0"/>
            <a:ext cx="2835142" cy="1293223"/>
          </a:xfrm>
          <a:prstGeom prst="rect">
            <a:avLst/>
          </a:prstGeom>
        </p:spPr>
      </p:pic>
      <p:sp>
        <p:nvSpPr>
          <p:cNvPr id="9" name="Rectangle 8"/>
          <p:cNvSpPr/>
          <p:nvPr/>
        </p:nvSpPr>
        <p:spPr>
          <a:xfrm>
            <a:off x="483324" y="1244062"/>
            <a:ext cx="11194869" cy="45719"/>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Content Placeholder 3"/>
          <p:cNvSpPr txBox="1">
            <a:spLocks/>
          </p:cNvSpPr>
          <p:nvPr/>
        </p:nvSpPr>
        <p:spPr>
          <a:xfrm>
            <a:off x="509337" y="1508960"/>
            <a:ext cx="10956758" cy="50121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2400" dirty="0">
                <a:solidFill>
                  <a:srgbClr val="002060"/>
                </a:solidFill>
              </a:rPr>
              <a:t>Pros and Cons of the solution</a:t>
            </a:r>
          </a:p>
          <a:p>
            <a:pPr marL="0" indent="0">
              <a:buNone/>
            </a:pPr>
            <a:r>
              <a:rPr lang="en-IN" sz="2400" dirty="0">
                <a:solidFill>
                  <a:srgbClr val="C00000"/>
                </a:solidFill>
              </a:rPr>
              <a:t>What is novel in your mentioned idea and scope of the proposed solution</a:t>
            </a:r>
          </a:p>
          <a:p>
            <a:pPr marL="0" indent="0">
              <a:buNone/>
            </a:pPr>
            <a:endParaRPr lang="en-IN" dirty="0">
              <a:solidFill>
                <a:srgbClr val="C00000"/>
              </a:solidFill>
            </a:endParaRPr>
          </a:p>
        </p:txBody>
      </p:sp>
      <p:pic>
        <p:nvPicPr>
          <p:cNvPr id="10" name="Picture 9">
            <a:extLst>
              <a:ext uri="{FF2B5EF4-FFF2-40B4-BE49-F238E27FC236}">
                <a16:creationId xmlns:a16="http://schemas.microsoft.com/office/drawing/2014/main" id="{16B03B98-BCC6-45F9-8693-080C48E833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177" y="-27257"/>
            <a:ext cx="2835142" cy="1285467"/>
          </a:xfrm>
          <a:prstGeom prst="rect">
            <a:avLst/>
          </a:prstGeom>
        </p:spPr>
      </p:pic>
      <p:pic>
        <p:nvPicPr>
          <p:cNvPr id="12" name="Picture 11">
            <a:extLst>
              <a:ext uri="{FF2B5EF4-FFF2-40B4-BE49-F238E27FC236}">
                <a16:creationId xmlns:a16="http://schemas.microsoft.com/office/drawing/2014/main" id="{91111B57-EC53-4E90-8D70-BF1887618D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74282" y="48659"/>
            <a:ext cx="2135541" cy="1195903"/>
          </a:xfrm>
          <a:prstGeom prst="rect">
            <a:avLst/>
          </a:prstGeom>
        </p:spPr>
      </p:pic>
      <p:pic>
        <p:nvPicPr>
          <p:cNvPr id="13" name="Picture 12">
            <a:extLst>
              <a:ext uri="{FF2B5EF4-FFF2-40B4-BE49-F238E27FC236}">
                <a16:creationId xmlns:a16="http://schemas.microsoft.com/office/drawing/2014/main" id="{056C0DFA-F2AA-4D8A-9563-5D6B5FC3970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72251" y="60604"/>
            <a:ext cx="1197606" cy="1197606"/>
          </a:xfrm>
          <a:prstGeom prst="rect">
            <a:avLst/>
          </a:prstGeom>
        </p:spPr>
      </p:pic>
    </p:spTree>
    <p:extLst>
      <p:ext uri="{BB962C8B-B14F-4D97-AF65-F5344CB8AC3E}">
        <p14:creationId xmlns:p14="http://schemas.microsoft.com/office/powerpoint/2010/main" val="3539846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IN" dirty="0"/>
            </a:br>
            <a:endParaRPr lang="en-IN" dirty="0"/>
          </a:p>
        </p:txBody>
      </p:sp>
      <p:sp>
        <p:nvSpPr>
          <p:cNvPr id="3" name="Content Placeholder 2"/>
          <p:cNvSpPr>
            <a:spLocks noGrp="1"/>
          </p:cNvSpPr>
          <p:nvPr>
            <p:ph idx="1"/>
          </p:nvPr>
        </p:nvSpPr>
        <p:spPr>
          <a:xfrm>
            <a:off x="252663" y="1825624"/>
            <a:ext cx="11634537" cy="4683459"/>
          </a:xfrm>
        </p:spPr>
        <p:txBody>
          <a:bodyPr/>
          <a:lstStyle/>
          <a:p>
            <a:pPr marL="0" indent="0">
              <a:buNone/>
            </a:pPr>
            <a:endParaRPr lang="en-IN" dirty="0"/>
          </a:p>
          <a:p>
            <a:pPr marL="0" indent="0">
              <a:buNone/>
            </a:pPr>
            <a:endParaRPr lang="en-IN" dirty="0"/>
          </a:p>
        </p:txBody>
      </p:sp>
      <p:pic>
        <p:nvPicPr>
          <p:cNvPr id="6"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4077" y="0"/>
            <a:ext cx="2835142" cy="1293223"/>
          </a:xfrm>
          <a:prstGeom prst="rect">
            <a:avLst/>
          </a:prstGeom>
        </p:spPr>
      </p:pic>
      <p:sp>
        <p:nvSpPr>
          <p:cNvPr id="9" name="Rectangle 8"/>
          <p:cNvSpPr/>
          <p:nvPr/>
        </p:nvSpPr>
        <p:spPr>
          <a:xfrm>
            <a:off x="483324" y="1244062"/>
            <a:ext cx="11194869" cy="45719"/>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Content Placeholder 3"/>
          <p:cNvSpPr txBox="1">
            <a:spLocks/>
          </p:cNvSpPr>
          <p:nvPr/>
        </p:nvSpPr>
        <p:spPr>
          <a:xfrm>
            <a:off x="509337" y="1508960"/>
            <a:ext cx="10956758" cy="50121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2400" dirty="0">
                <a:solidFill>
                  <a:srgbClr val="002060"/>
                </a:solidFill>
              </a:rPr>
              <a:t>Technical Description</a:t>
            </a:r>
          </a:p>
          <a:p>
            <a:pPr>
              <a:buClr>
                <a:srgbClr val="C00000"/>
              </a:buClr>
            </a:pPr>
            <a:r>
              <a:rPr lang="en-IN" sz="2500" dirty="0">
                <a:solidFill>
                  <a:srgbClr val="002060"/>
                </a:solidFill>
                <a:latin typeface="Times New Roman" panose="02020603050405020304" pitchFamily="18" charset="0"/>
                <a:cs typeface="Times New Roman" panose="02020603050405020304" pitchFamily="18" charset="0"/>
              </a:rPr>
              <a:t>The Proposed model is divided into three stages: Data collection, Deep CNN training and finally testing.</a:t>
            </a:r>
          </a:p>
          <a:p>
            <a:pPr>
              <a:buClr>
                <a:srgbClr val="C00000"/>
              </a:buClr>
            </a:pPr>
            <a:r>
              <a:rPr lang="en-IN" sz="2500" dirty="0">
                <a:solidFill>
                  <a:srgbClr val="002060"/>
                </a:solidFill>
                <a:latin typeface="Times New Roman" panose="02020603050405020304" pitchFamily="18" charset="0"/>
                <a:cs typeface="Times New Roman" panose="02020603050405020304" pitchFamily="18" charset="0"/>
              </a:rPr>
              <a:t>The data is collected and prepared for two tasks: License plate detection and character detection/recognition.</a:t>
            </a:r>
          </a:p>
          <a:p>
            <a:pPr>
              <a:buClr>
                <a:srgbClr val="C00000"/>
              </a:buClr>
            </a:pPr>
            <a:r>
              <a:rPr lang="en-IN" sz="2500" dirty="0">
                <a:solidFill>
                  <a:srgbClr val="002060"/>
                </a:solidFill>
                <a:latin typeface="Times New Roman" panose="02020603050405020304" pitchFamily="18" charset="0"/>
                <a:cs typeface="Times New Roman" panose="02020603050405020304" pitchFamily="18" charset="0"/>
              </a:rPr>
              <a:t>The collected data is prepared and ready to be used for training into three stages: license plate detection, character detection and character recognition.</a:t>
            </a:r>
          </a:p>
          <a:p>
            <a:pPr>
              <a:buClr>
                <a:srgbClr val="C00000"/>
              </a:buClr>
            </a:pPr>
            <a:r>
              <a:rPr lang="en-IN" sz="2500" dirty="0">
                <a:solidFill>
                  <a:srgbClr val="002060"/>
                </a:solidFill>
                <a:latin typeface="Times New Roman" panose="02020603050405020304" pitchFamily="18" charset="0"/>
                <a:cs typeface="Times New Roman" panose="02020603050405020304" pitchFamily="18" charset="0"/>
              </a:rPr>
              <a:t> License plate detection determines the license plate and that image is given through the deep license plate detection network.</a:t>
            </a:r>
          </a:p>
          <a:p>
            <a:pPr>
              <a:buClr>
                <a:srgbClr val="C00000"/>
              </a:buClr>
            </a:pPr>
            <a:r>
              <a:rPr lang="en-IN" sz="2500" dirty="0">
                <a:solidFill>
                  <a:srgbClr val="002060"/>
                </a:solidFill>
                <a:latin typeface="Times New Roman" panose="02020603050405020304" pitchFamily="18" charset="0"/>
                <a:cs typeface="Times New Roman" panose="02020603050405020304" pitchFamily="18" charset="0"/>
              </a:rPr>
              <a:t>License plate recognition filters characters(A-Z, 0-9) from non-character segments using a character detection deep network.</a:t>
            </a:r>
          </a:p>
        </p:txBody>
      </p:sp>
      <p:pic>
        <p:nvPicPr>
          <p:cNvPr id="10" name="Picture 9">
            <a:extLst>
              <a:ext uri="{FF2B5EF4-FFF2-40B4-BE49-F238E27FC236}">
                <a16:creationId xmlns:a16="http://schemas.microsoft.com/office/drawing/2014/main" id="{B6881834-503B-4937-8ED2-8676D24F02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177" y="-27257"/>
            <a:ext cx="2835142" cy="1285467"/>
          </a:xfrm>
          <a:prstGeom prst="rect">
            <a:avLst/>
          </a:prstGeom>
        </p:spPr>
      </p:pic>
      <p:pic>
        <p:nvPicPr>
          <p:cNvPr id="12" name="Picture 11">
            <a:extLst>
              <a:ext uri="{FF2B5EF4-FFF2-40B4-BE49-F238E27FC236}">
                <a16:creationId xmlns:a16="http://schemas.microsoft.com/office/drawing/2014/main" id="{FAB4CFDC-CF4B-43D6-A05E-EA3C184B78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74282" y="48659"/>
            <a:ext cx="2135541" cy="1195903"/>
          </a:xfrm>
          <a:prstGeom prst="rect">
            <a:avLst/>
          </a:prstGeom>
        </p:spPr>
      </p:pic>
      <p:pic>
        <p:nvPicPr>
          <p:cNvPr id="13" name="Picture 12">
            <a:extLst>
              <a:ext uri="{FF2B5EF4-FFF2-40B4-BE49-F238E27FC236}">
                <a16:creationId xmlns:a16="http://schemas.microsoft.com/office/drawing/2014/main" id="{4C0D0C7E-5017-473B-BFFD-5600A36EC8D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72251" y="60604"/>
            <a:ext cx="1197606" cy="1197606"/>
          </a:xfrm>
          <a:prstGeom prst="rect">
            <a:avLst/>
          </a:prstGeom>
        </p:spPr>
      </p:pic>
    </p:spTree>
    <p:extLst>
      <p:ext uri="{BB962C8B-B14F-4D97-AF65-F5344CB8AC3E}">
        <p14:creationId xmlns:p14="http://schemas.microsoft.com/office/powerpoint/2010/main" val="3092262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IN" dirty="0"/>
            </a:br>
            <a:endParaRPr lang="en-IN" dirty="0"/>
          </a:p>
        </p:txBody>
      </p:sp>
      <p:sp>
        <p:nvSpPr>
          <p:cNvPr id="3" name="Content Placeholder 2"/>
          <p:cNvSpPr>
            <a:spLocks noGrp="1"/>
          </p:cNvSpPr>
          <p:nvPr>
            <p:ph idx="1"/>
          </p:nvPr>
        </p:nvSpPr>
        <p:spPr>
          <a:xfrm>
            <a:off x="252663" y="1825624"/>
            <a:ext cx="11634537" cy="4683459"/>
          </a:xfrm>
        </p:spPr>
        <p:txBody>
          <a:bodyPr/>
          <a:lstStyle/>
          <a:p>
            <a:pPr marL="0" indent="0">
              <a:buNone/>
            </a:pPr>
            <a:endParaRPr lang="en-IN" dirty="0"/>
          </a:p>
          <a:p>
            <a:pPr marL="0" indent="0">
              <a:buNone/>
            </a:pPr>
            <a:endParaRPr lang="en-IN" dirty="0"/>
          </a:p>
        </p:txBody>
      </p:sp>
      <p:pic>
        <p:nvPicPr>
          <p:cNvPr id="6"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4077" y="0"/>
            <a:ext cx="2835142" cy="1293223"/>
          </a:xfrm>
          <a:prstGeom prst="rect">
            <a:avLst/>
          </a:prstGeom>
        </p:spPr>
      </p:pic>
      <p:sp>
        <p:nvSpPr>
          <p:cNvPr id="9" name="Rectangle 8"/>
          <p:cNvSpPr/>
          <p:nvPr/>
        </p:nvSpPr>
        <p:spPr>
          <a:xfrm>
            <a:off x="483324" y="1244062"/>
            <a:ext cx="11194869" cy="45719"/>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Content Placeholder 3"/>
          <p:cNvSpPr txBox="1">
            <a:spLocks/>
          </p:cNvSpPr>
          <p:nvPr/>
        </p:nvSpPr>
        <p:spPr>
          <a:xfrm>
            <a:off x="491289" y="1423963"/>
            <a:ext cx="11209421" cy="50121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2400" dirty="0">
                <a:solidFill>
                  <a:srgbClr val="002060"/>
                </a:solidFill>
              </a:rPr>
              <a:t>Implementation Plan/Working Model </a:t>
            </a:r>
          </a:p>
          <a:p>
            <a:pPr marL="0" indent="0">
              <a:buNone/>
            </a:pPr>
            <a:r>
              <a:rPr lang="en-IN" sz="2000" dirty="0">
                <a:solidFill>
                  <a:srgbClr val="C00000"/>
                </a:solidFill>
              </a:rPr>
              <a:t> </a:t>
            </a:r>
          </a:p>
          <a:p>
            <a:pPr marL="0" indent="0">
              <a:buNone/>
            </a:pPr>
            <a:endParaRPr lang="en-IN" dirty="0">
              <a:solidFill>
                <a:srgbClr val="C00000"/>
              </a:solidFill>
            </a:endParaRPr>
          </a:p>
        </p:txBody>
      </p:sp>
      <p:pic>
        <p:nvPicPr>
          <p:cNvPr id="10" name="Picture 9">
            <a:extLst>
              <a:ext uri="{FF2B5EF4-FFF2-40B4-BE49-F238E27FC236}">
                <a16:creationId xmlns:a16="http://schemas.microsoft.com/office/drawing/2014/main" id="{62053D96-50E0-44B0-A4C1-D8FE6AD36C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177" y="-27257"/>
            <a:ext cx="2835142" cy="1285467"/>
          </a:xfrm>
          <a:prstGeom prst="rect">
            <a:avLst/>
          </a:prstGeom>
        </p:spPr>
      </p:pic>
      <p:pic>
        <p:nvPicPr>
          <p:cNvPr id="12" name="Picture 11">
            <a:extLst>
              <a:ext uri="{FF2B5EF4-FFF2-40B4-BE49-F238E27FC236}">
                <a16:creationId xmlns:a16="http://schemas.microsoft.com/office/drawing/2014/main" id="{A3C5AE18-E036-4E1C-904F-2F49C31C0B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74282" y="48659"/>
            <a:ext cx="2135541" cy="1195903"/>
          </a:xfrm>
          <a:prstGeom prst="rect">
            <a:avLst/>
          </a:prstGeom>
        </p:spPr>
      </p:pic>
      <p:pic>
        <p:nvPicPr>
          <p:cNvPr id="13" name="Picture 12">
            <a:extLst>
              <a:ext uri="{FF2B5EF4-FFF2-40B4-BE49-F238E27FC236}">
                <a16:creationId xmlns:a16="http://schemas.microsoft.com/office/drawing/2014/main" id="{708CED7D-C6A4-4CEA-B417-93BA89D11E9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72251" y="60604"/>
            <a:ext cx="1197606" cy="1197606"/>
          </a:xfrm>
          <a:prstGeom prst="rect">
            <a:avLst/>
          </a:prstGeom>
        </p:spPr>
      </p:pic>
      <p:pic>
        <p:nvPicPr>
          <p:cNvPr id="5" name="Picture 4">
            <a:extLst>
              <a:ext uri="{FF2B5EF4-FFF2-40B4-BE49-F238E27FC236}">
                <a16:creationId xmlns:a16="http://schemas.microsoft.com/office/drawing/2014/main" id="{34D366F4-72E6-4ACD-875D-C7B3B30446B9}"/>
              </a:ext>
            </a:extLst>
          </p:cNvPr>
          <p:cNvPicPr>
            <a:picLocks noChangeAspect="1"/>
          </p:cNvPicPr>
          <p:nvPr/>
        </p:nvPicPr>
        <p:blipFill>
          <a:blip r:embed="rId6"/>
          <a:stretch>
            <a:fillRect/>
          </a:stretch>
        </p:blipFill>
        <p:spPr>
          <a:xfrm>
            <a:off x="2740668" y="1824870"/>
            <a:ext cx="6710664" cy="4911982"/>
          </a:xfrm>
          <a:prstGeom prst="rect">
            <a:avLst/>
          </a:prstGeom>
        </p:spPr>
      </p:pic>
    </p:spTree>
    <p:extLst>
      <p:ext uri="{BB962C8B-B14F-4D97-AF65-F5344CB8AC3E}">
        <p14:creationId xmlns:p14="http://schemas.microsoft.com/office/powerpoint/2010/main" val="4223613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IN" dirty="0"/>
            </a:br>
            <a:endParaRPr lang="en-IN" dirty="0"/>
          </a:p>
        </p:txBody>
      </p:sp>
      <p:sp>
        <p:nvSpPr>
          <p:cNvPr id="3" name="Content Placeholder 2"/>
          <p:cNvSpPr>
            <a:spLocks noGrp="1"/>
          </p:cNvSpPr>
          <p:nvPr>
            <p:ph idx="1"/>
          </p:nvPr>
        </p:nvSpPr>
        <p:spPr>
          <a:xfrm>
            <a:off x="252663" y="1825624"/>
            <a:ext cx="11634537" cy="4683459"/>
          </a:xfrm>
        </p:spPr>
        <p:txBody>
          <a:bodyPr/>
          <a:lstStyle/>
          <a:p>
            <a:pPr marL="0" indent="0">
              <a:buNone/>
            </a:pPr>
            <a:endParaRPr lang="en-IN" dirty="0"/>
          </a:p>
          <a:p>
            <a:pPr marL="0" indent="0">
              <a:buNone/>
            </a:pPr>
            <a:endParaRPr lang="en-IN" dirty="0"/>
          </a:p>
        </p:txBody>
      </p:sp>
      <p:pic>
        <p:nvPicPr>
          <p:cNvPr id="6"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4077" y="0"/>
            <a:ext cx="2835142" cy="1293223"/>
          </a:xfrm>
          <a:prstGeom prst="rect">
            <a:avLst/>
          </a:prstGeom>
        </p:spPr>
      </p:pic>
      <p:sp>
        <p:nvSpPr>
          <p:cNvPr id="9" name="Rectangle 8"/>
          <p:cNvSpPr/>
          <p:nvPr/>
        </p:nvSpPr>
        <p:spPr>
          <a:xfrm>
            <a:off x="483324" y="1244062"/>
            <a:ext cx="11194869" cy="45719"/>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Content Placeholder 3"/>
          <p:cNvSpPr txBox="1">
            <a:spLocks/>
          </p:cNvSpPr>
          <p:nvPr/>
        </p:nvSpPr>
        <p:spPr>
          <a:xfrm>
            <a:off x="509336" y="1508960"/>
            <a:ext cx="11209421" cy="501215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Validation / Testing / Analysis</a:t>
            </a:r>
          </a:p>
          <a:p>
            <a:pPr>
              <a:buClr>
                <a:srgbClr val="C00000"/>
              </a:buClr>
            </a:pPr>
            <a:r>
              <a:rPr lang="en-IN" sz="2000" dirty="0">
                <a:solidFill>
                  <a:srgbClr val="C00000"/>
                </a:solidFill>
              </a:rPr>
              <a:t> </a:t>
            </a:r>
            <a:r>
              <a:rPr lang="en-IN" sz="2500" dirty="0">
                <a:solidFill>
                  <a:srgbClr val="002060"/>
                </a:solidFill>
                <a:latin typeface="Times New Roman" panose="02020603050405020304" pitchFamily="18" charset="0"/>
                <a:cs typeface="Times New Roman" panose="02020603050405020304" pitchFamily="18" charset="0"/>
              </a:rPr>
              <a:t>The Performance of the proposed model will be evaluated by using precision, recall and accuracy metrics.</a:t>
            </a:r>
          </a:p>
          <a:p>
            <a:pPr>
              <a:buClr>
                <a:srgbClr val="C00000"/>
              </a:buClr>
            </a:pPr>
            <a:r>
              <a:rPr lang="en-IN" sz="2500" dirty="0">
                <a:solidFill>
                  <a:srgbClr val="002060"/>
                </a:solidFill>
                <a:latin typeface="Times New Roman" panose="02020603050405020304" pitchFamily="18" charset="0"/>
                <a:cs typeface="Times New Roman" panose="02020603050405020304" pitchFamily="18" charset="0"/>
              </a:rPr>
              <a:t>In order to train the model to detect and recognize the license number plate, a database of real world images with license plates, along with context and tightly cropped license plates are collected.</a:t>
            </a:r>
          </a:p>
          <a:p>
            <a:pPr>
              <a:buClr>
                <a:srgbClr val="C00000"/>
              </a:buClr>
            </a:pPr>
            <a:r>
              <a:rPr lang="en-IN" sz="2500" dirty="0">
                <a:solidFill>
                  <a:srgbClr val="002060"/>
                </a:solidFill>
                <a:latin typeface="Times New Roman" panose="02020603050405020304" pitchFamily="18" charset="0"/>
                <a:cs typeface="Times New Roman" panose="02020603050405020304" pitchFamily="18" charset="0"/>
              </a:rPr>
              <a:t>Character segmentation is the best approach to segment/isolate each of the characters and perform character detection and recognition for each individual character before combining the results.</a:t>
            </a:r>
          </a:p>
          <a:p>
            <a:pPr>
              <a:buClr>
                <a:srgbClr val="C00000"/>
              </a:buClr>
            </a:pPr>
            <a:r>
              <a:rPr lang="en-IN" sz="2500" dirty="0">
                <a:solidFill>
                  <a:srgbClr val="002060"/>
                </a:solidFill>
                <a:latin typeface="Times New Roman" panose="02020603050405020304" pitchFamily="18" charset="0"/>
                <a:cs typeface="Times New Roman" panose="02020603050405020304" pitchFamily="18" charset="0"/>
              </a:rPr>
              <a:t>The dataset is a collection of open source available license plates containing 348 USA license plates and 608 European license plates.</a:t>
            </a:r>
          </a:p>
          <a:p>
            <a:pPr>
              <a:buClr>
                <a:srgbClr val="C00000"/>
              </a:buClr>
            </a:pPr>
            <a:r>
              <a:rPr lang="en-IN" sz="2500" dirty="0">
                <a:solidFill>
                  <a:srgbClr val="002060"/>
                </a:solidFill>
                <a:latin typeface="Times New Roman" panose="02020603050405020304" pitchFamily="18" charset="0"/>
                <a:cs typeface="Times New Roman" panose="02020603050405020304" pitchFamily="18" charset="0"/>
              </a:rPr>
              <a:t>70% of the data is used for training purpose and 30% of the data is used for testing purpose.</a:t>
            </a:r>
          </a:p>
          <a:p>
            <a:pPr>
              <a:buClr>
                <a:srgbClr val="C00000"/>
              </a:buClr>
            </a:pPr>
            <a:endParaRPr lang="en-IN" sz="2500" dirty="0">
              <a:solidFill>
                <a:srgbClr val="002060"/>
              </a:solidFill>
              <a:latin typeface="Times New Roman" panose="02020603050405020304" pitchFamily="18" charset="0"/>
              <a:cs typeface="Times New Roman" panose="02020603050405020304" pitchFamily="18" charset="0"/>
            </a:endParaRPr>
          </a:p>
          <a:p>
            <a:pPr marL="0" indent="0">
              <a:buNone/>
            </a:pPr>
            <a:endParaRPr lang="en-IN" dirty="0">
              <a:solidFill>
                <a:srgbClr val="C00000"/>
              </a:solidFill>
            </a:endParaRPr>
          </a:p>
        </p:txBody>
      </p:sp>
      <p:pic>
        <p:nvPicPr>
          <p:cNvPr id="10" name="Picture 9">
            <a:extLst>
              <a:ext uri="{FF2B5EF4-FFF2-40B4-BE49-F238E27FC236}">
                <a16:creationId xmlns:a16="http://schemas.microsoft.com/office/drawing/2014/main" id="{7E6D1BD6-54AE-4DA9-B18F-D846EC7133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177" y="-27257"/>
            <a:ext cx="2835142" cy="1285467"/>
          </a:xfrm>
          <a:prstGeom prst="rect">
            <a:avLst/>
          </a:prstGeom>
        </p:spPr>
      </p:pic>
      <p:pic>
        <p:nvPicPr>
          <p:cNvPr id="12" name="Picture 11">
            <a:extLst>
              <a:ext uri="{FF2B5EF4-FFF2-40B4-BE49-F238E27FC236}">
                <a16:creationId xmlns:a16="http://schemas.microsoft.com/office/drawing/2014/main" id="{7A244D53-9864-4CAA-A50B-C48F247AE5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74282" y="48659"/>
            <a:ext cx="2135541" cy="1195903"/>
          </a:xfrm>
          <a:prstGeom prst="rect">
            <a:avLst/>
          </a:prstGeom>
        </p:spPr>
      </p:pic>
      <p:pic>
        <p:nvPicPr>
          <p:cNvPr id="13" name="Picture 12">
            <a:extLst>
              <a:ext uri="{FF2B5EF4-FFF2-40B4-BE49-F238E27FC236}">
                <a16:creationId xmlns:a16="http://schemas.microsoft.com/office/drawing/2014/main" id="{B33EC169-1928-4759-BB05-0011057F60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72251" y="60604"/>
            <a:ext cx="1197606" cy="1197606"/>
          </a:xfrm>
          <a:prstGeom prst="rect">
            <a:avLst/>
          </a:prstGeom>
        </p:spPr>
      </p:pic>
    </p:spTree>
    <p:extLst>
      <p:ext uri="{BB962C8B-B14F-4D97-AF65-F5344CB8AC3E}">
        <p14:creationId xmlns:p14="http://schemas.microsoft.com/office/powerpoint/2010/main" val="3508890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IN" dirty="0"/>
            </a:br>
            <a:endParaRPr lang="en-IN" dirty="0"/>
          </a:p>
        </p:txBody>
      </p:sp>
      <p:sp>
        <p:nvSpPr>
          <p:cNvPr id="3" name="Content Placeholder 2"/>
          <p:cNvSpPr>
            <a:spLocks noGrp="1"/>
          </p:cNvSpPr>
          <p:nvPr>
            <p:ph idx="1"/>
          </p:nvPr>
        </p:nvSpPr>
        <p:spPr>
          <a:xfrm>
            <a:off x="252663" y="1825624"/>
            <a:ext cx="11634537" cy="4683459"/>
          </a:xfrm>
        </p:spPr>
        <p:txBody>
          <a:bodyPr/>
          <a:lstStyle/>
          <a:p>
            <a:pPr marL="0" indent="0">
              <a:buNone/>
            </a:pPr>
            <a:endParaRPr lang="en-IN" dirty="0"/>
          </a:p>
          <a:p>
            <a:pPr marL="0" indent="0">
              <a:buNone/>
            </a:pPr>
            <a:endParaRPr lang="en-IN" dirty="0"/>
          </a:p>
        </p:txBody>
      </p:sp>
      <p:pic>
        <p:nvPicPr>
          <p:cNvPr id="6"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4077" y="0"/>
            <a:ext cx="2835142" cy="1293223"/>
          </a:xfrm>
          <a:prstGeom prst="rect">
            <a:avLst/>
          </a:prstGeom>
        </p:spPr>
      </p:pic>
      <p:sp>
        <p:nvSpPr>
          <p:cNvPr id="9" name="Rectangle 8"/>
          <p:cNvSpPr/>
          <p:nvPr/>
        </p:nvSpPr>
        <p:spPr>
          <a:xfrm>
            <a:off x="483324" y="1244062"/>
            <a:ext cx="11194869" cy="45719"/>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Content Placeholder 3"/>
          <p:cNvSpPr txBox="1">
            <a:spLocks/>
          </p:cNvSpPr>
          <p:nvPr/>
        </p:nvSpPr>
        <p:spPr>
          <a:xfrm>
            <a:off x="509336" y="1508960"/>
            <a:ext cx="11209421" cy="50121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solidFill>
                  <a:srgbClr val="002060"/>
                </a:solidFill>
                <a:latin typeface="Calibri" panose="020F0502020204030204" pitchFamily="34" charset="0"/>
              </a:rPr>
              <a:t>Cost Estimate(if required)</a:t>
            </a:r>
          </a:p>
          <a:p>
            <a:pPr marL="0" indent="0">
              <a:buNone/>
            </a:pPr>
            <a:endParaRPr lang="en-IN" dirty="0">
              <a:solidFill>
                <a:srgbClr val="002060"/>
              </a:solidFill>
            </a:endParaRPr>
          </a:p>
        </p:txBody>
      </p:sp>
      <p:pic>
        <p:nvPicPr>
          <p:cNvPr id="10" name="Picture 9">
            <a:extLst>
              <a:ext uri="{FF2B5EF4-FFF2-40B4-BE49-F238E27FC236}">
                <a16:creationId xmlns:a16="http://schemas.microsoft.com/office/drawing/2014/main" id="{E9B4B017-48ED-4D6B-A10B-56DE6FE487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177" y="-27257"/>
            <a:ext cx="2835142" cy="1285467"/>
          </a:xfrm>
          <a:prstGeom prst="rect">
            <a:avLst/>
          </a:prstGeom>
        </p:spPr>
      </p:pic>
      <p:pic>
        <p:nvPicPr>
          <p:cNvPr id="12" name="Picture 11">
            <a:extLst>
              <a:ext uri="{FF2B5EF4-FFF2-40B4-BE49-F238E27FC236}">
                <a16:creationId xmlns:a16="http://schemas.microsoft.com/office/drawing/2014/main" id="{64B1A3D0-676A-481D-B743-408073648E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74282" y="48659"/>
            <a:ext cx="2135541" cy="1195903"/>
          </a:xfrm>
          <a:prstGeom prst="rect">
            <a:avLst/>
          </a:prstGeom>
        </p:spPr>
      </p:pic>
      <p:pic>
        <p:nvPicPr>
          <p:cNvPr id="13" name="Picture 12">
            <a:extLst>
              <a:ext uri="{FF2B5EF4-FFF2-40B4-BE49-F238E27FC236}">
                <a16:creationId xmlns:a16="http://schemas.microsoft.com/office/drawing/2014/main" id="{CECEDF57-0D48-44D9-ADB0-543B46FE928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72251" y="60604"/>
            <a:ext cx="1197606" cy="1197606"/>
          </a:xfrm>
          <a:prstGeom prst="rect">
            <a:avLst/>
          </a:prstGeom>
        </p:spPr>
      </p:pic>
    </p:spTree>
    <p:extLst>
      <p:ext uri="{BB962C8B-B14F-4D97-AF65-F5344CB8AC3E}">
        <p14:creationId xmlns:p14="http://schemas.microsoft.com/office/powerpoint/2010/main" val="177663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IN" dirty="0"/>
            </a:br>
            <a:endParaRPr lang="en-IN" dirty="0"/>
          </a:p>
        </p:txBody>
      </p:sp>
      <p:sp>
        <p:nvSpPr>
          <p:cNvPr id="3" name="Content Placeholder 2"/>
          <p:cNvSpPr>
            <a:spLocks noGrp="1"/>
          </p:cNvSpPr>
          <p:nvPr>
            <p:ph idx="1"/>
          </p:nvPr>
        </p:nvSpPr>
        <p:spPr>
          <a:xfrm>
            <a:off x="252663" y="1825624"/>
            <a:ext cx="11634537" cy="4683459"/>
          </a:xfrm>
        </p:spPr>
        <p:txBody>
          <a:bodyPr>
            <a:normAutofit/>
          </a:bodyPr>
          <a:lstStyle/>
          <a:p>
            <a:pPr>
              <a:buClr>
                <a:srgbClr val="C00000"/>
              </a:buClr>
            </a:pPr>
            <a:r>
              <a:rPr lang="en-IN" sz="2500" dirty="0">
                <a:solidFill>
                  <a:srgbClr val="002060"/>
                </a:solidFill>
                <a:latin typeface="Times New Roman" panose="02020603050405020304" pitchFamily="18" charset="0"/>
                <a:cs typeface="Times New Roman" panose="02020603050405020304" pitchFamily="18" charset="0"/>
              </a:rPr>
              <a:t>OpenCV and </a:t>
            </a:r>
            <a:r>
              <a:rPr lang="en-IN" sz="2500" dirty="0" err="1">
                <a:solidFill>
                  <a:srgbClr val="002060"/>
                </a:solidFill>
                <a:latin typeface="Times New Roman" panose="02020603050405020304" pitchFamily="18" charset="0"/>
                <a:cs typeface="Times New Roman" panose="02020603050405020304" pitchFamily="18" charset="0"/>
              </a:rPr>
              <a:t>EasyOCR</a:t>
            </a:r>
            <a:r>
              <a:rPr lang="en-IN" sz="2500" dirty="0">
                <a:solidFill>
                  <a:srgbClr val="002060"/>
                </a:solidFill>
                <a:latin typeface="Times New Roman" panose="02020603050405020304" pitchFamily="18" charset="0"/>
                <a:cs typeface="Times New Roman" panose="02020603050405020304" pitchFamily="18" charset="0"/>
              </a:rPr>
              <a:t> could be solved efficiently by using Deep-CNN architecture and design.</a:t>
            </a:r>
          </a:p>
          <a:p>
            <a:pPr>
              <a:buClr>
                <a:srgbClr val="C00000"/>
              </a:buClr>
            </a:pPr>
            <a:r>
              <a:rPr lang="en-IN" sz="2500" dirty="0">
                <a:solidFill>
                  <a:srgbClr val="002060"/>
                </a:solidFill>
                <a:latin typeface="Times New Roman" panose="02020603050405020304" pitchFamily="18" charset="0"/>
                <a:cs typeface="Times New Roman" panose="02020603050405020304" pitchFamily="18" charset="0"/>
              </a:rPr>
              <a:t>Design the short-term and long-term budgets to aid the formation of contracts where this might usually keep the overall project budget to be within the budgeted cost, thus avoiding the project to be over the actual budget.</a:t>
            </a:r>
          </a:p>
          <a:p>
            <a:pPr>
              <a:buClr>
                <a:srgbClr val="C00000"/>
              </a:buClr>
            </a:pPr>
            <a:r>
              <a:rPr lang="en-IN" sz="2500" dirty="0">
                <a:solidFill>
                  <a:srgbClr val="002060"/>
                </a:solidFill>
                <a:latin typeface="Times New Roman" panose="02020603050405020304" pitchFamily="18" charset="0"/>
                <a:cs typeface="Times New Roman" panose="02020603050405020304" pitchFamily="18" charset="0"/>
              </a:rPr>
              <a:t>It is presupposed that the system of the project is compatible, functions properly and stable for the project to take place smoothly.</a:t>
            </a:r>
          </a:p>
          <a:p>
            <a:pPr>
              <a:buClr>
                <a:srgbClr val="C00000"/>
              </a:buClr>
            </a:pPr>
            <a:r>
              <a:rPr lang="en-IN" sz="2500" dirty="0">
                <a:solidFill>
                  <a:srgbClr val="002060"/>
                </a:solidFill>
                <a:latin typeface="Times New Roman" panose="02020603050405020304" pitchFamily="18" charset="0"/>
                <a:cs typeface="Times New Roman" panose="02020603050405020304" pitchFamily="18" charset="0"/>
              </a:rPr>
              <a:t>All the resources allocated are sufficient for the project life-cycle. However, the project could still be at risk if the contributions from the resources are insufficient.</a:t>
            </a:r>
          </a:p>
          <a:p>
            <a:pPr marL="0" indent="0">
              <a:buClr>
                <a:srgbClr val="C00000"/>
              </a:buClr>
              <a:buNone/>
            </a:pPr>
            <a:endParaRPr lang="en-IN" sz="2500" dirty="0">
              <a:solidFill>
                <a:srgbClr val="002060"/>
              </a:solidFill>
              <a:latin typeface="Times New Roman" panose="02020603050405020304" pitchFamily="18" charset="0"/>
              <a:cs typeface="Times New Roman" panose="02020603050405020304" pitchFamily="18" charset="0"/>
            </a:endParaRPr>
          </a:p>
          <a:p>
            <a:pPr>
              <a:buClr>
                <a:srgbClr val="C00000"/>
              </a:buClr>
            </a:pPr>
            <a:endParaRPr lang="en-IN" sz="2500" dirty="0">
              <a:solidFill>
                <a:srgbClr val="002060"/>
              </a:solidFill>
              <a:latin typeface="Times New Roman" panose="02020603050405020304" pitchFamily="18" charset="0"/>
              <a:cs typeface="Times New Roman" panose="02020603050405020304" pitchFamily="18" charset="0"/>
            </a:endParaRPr>
          </a:p>
        </p:txBody>
      </p:sp>
      <p:pic>
        <p:nvPicPr>
          <p:cNvPr id="6"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4077" y="0"/>
            <a:ext cx="2835142" cy="1293223"/>
          </a:xfrm>
          <a:prstGeom prst="rect">
            <a:avLst/>
          </a:prstGeom>
        </p:spPr>
      </p:pic>
      <p:sp>
        <p:nvSpPr>
          <p:cNvPr id="9" name="Rectangle 8"/>
          <p:cNvSpPr/>
          <p:nvPr/>
        </p:nvSpPr>
        <p:spPr>
          <a:xfrm>
            <a:off x="483324" y="1244062"/>
            <a:ext cx="11194869" cy="45719"/>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Content Placeholder 3"/>
          <p:cNvSpPr txBox="1">
            <a:spLocks/>
          </p:cNvSpPr>
          <p:nvPr/>
        </p:nvSpPr>
        <p:spPr>
          <a:xfrm>
            <a:off x="509336" y="1508960"/>
            <a:ext cx="11209421" cy="50121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latin typeface="Calibri" panose="020F0502020204030204" pitchFamily="34" charset="0"/>
              </a:rPr>
              <a:t>Assumptions(if any)</a:t>
            </a:r>
            <a:endParaRPr lang="en-IN" dirty="0">
              <a:solidFill>
                <a:srgbClr val="002060"/>
              </a:solidFill>
            </a:endParaRPr>
          </a:p>
        </p:txBody>
      </p:sp>
      <p:pic>
        <p:nvPicPr>
          <p:cNvPr id="10" name="Picture 9">
            <a:extLst>
              <a:ext uri="{FF2B5EF4-FFF2-40B4-BE49-F238E27FC236}">
                <a16:creationId xmlns:a16="http://schemas.microsoft.com/office/drawing/2014/main" id="{5A7B4470-4EBE-48EE-AF70-F76B6D43EA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177" y="-27257"/>
            <a:ext cx="2835142" cy="1285467"/>
          </a:xfrm>
          <a:prstGeom prst="rect">
            <a:avLst/>
          </a:prstGeom>
        </p:spPr>
      </p:pic>
      <p:pic>
        <p:nvPicPr>
          <p:cNvPr id="12" name="Picture 11">
            <a:extLst>
              <a:ext uri="{FF2B5EF4-FFF2-40B4-BE49-F238E27FC236}">
                <a16:creationId xmlns:a16="http://schemas.microsoft.com/office/drawing/2014/main" id="{ABB09655-D5C6-4967-90B1-52228C3613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74282" y="48659"/>
            <a:ext cx="2135541" cy="1195903"/>
          </a:xfrm>
          <a:prstGeom prst="rect">
            <a:avLst/>
          </a:prstGeom>
        </p:spPr>
      </p:pic>
      <p:pic>
        <p:nvPicPr>
          <p:cNvPr id="13" name="Picture 12">
            <a:extLst>
              <a:ext uri="{FF2B5EF4-FFF2-40B4-BE49-F238E27FC236}">
                <a16:creationId xmlns:a16="http://schemas.microsoft.com/office/drawing/2014/main" id="{5E047B7B-ADB7-406A-9DC6-BB54040E174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72251" y="60604"/>
            <a:ext cx="1197606" cy="1197606"/>
          </a:xfrm>
          <a:prstGeom prst="rect">
            <a:avLst/>
          </a:prstGeom>
        </p:spPr>
      </p:pic>
    </p:spTree>
    <p:extLst>
      <p:ext uri="{BB962C8B-B14F-4D97-AF65-F5344CB8AC3E}">
        <p14:creationId xmlns:p14="http://schemas.microsoft.com/office/powerpoint/2010/main" val="3032095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IN" dirty="0"/>
            </a:br>
            <a:endParaRPr lang="en-IN" dirty="0"/>
          </a:p>
        </p:txBody>
      </p:sp>
      <p:sp>
        <p:nvSpPr>
          <p:cNvPr id="3" name="Content Placeholder 2"/>
          <p:cNvSpPr>
            <a:spLocks noGrp="1"/>
          </p:cNvSpPr>
          <p:nvPr>
            <p:ph idx="1"/>
          </p:nvPr>
        </p:nvSpPr>
        <p:spPr>
          <a:xfrm>
            <a:off x="252663" y="1825624"/>
            <a:ext cx="11634537" cy="4683459"/>
          </a:xfrm>
        </p:spPr>
        <p:txBody>
          <a:bodyPr>
            <a:noAutofit/>
          </a:bodyPr>
          <a:lstStyle/>
          <a:p>
            <a:pPr marL="0" indent="0">
              <a:buNone/>
            </a:pPr>
            <a:r>
              <a:rPr lang="en-IN" sz="2000" dirty="0">
                <a:solidFill>
                  <a:srgbClr val="002060"/>
                </a:solidFill>
                <a:latin typeface="Times New Roman" panose="02020603050405020304" pitchFamily="18" charset="0"/>
                <a:cs typeface="Times New Roman" panose="02020603050405020304" pitchFamily="18" charset="0"/>
              </a:rPr>
              <a:t>[1]Hsieh, J.W., Yu, S.H., Chen, Y.S.: Morphology-based license plate detection from complex scenes. In: IEEE International Conference on Pattern Recognition. (2002).</a:t>
            </a:r>
          </a:p>
          <a:p>
            <a:pPr marL="0" indent="0">
              <a:buNone/>
            </a:pPr>
            <a:r>
              <a:rPr lang="en-IN" sz="2000" dirty="0">
                <a:solidFill>
                  <a:srgbClr val="002060"/>
                </a:solidFill>
                <a:latin typeface="Times New Roman" panose="02020603050405020304" pitchFamily="18" charset="0"/>
                <a:cs typeface="Times New Roman" panose="02020603050405020304" pitchFamily="18" charset="0"/>
              </a:rPr>
              <a:t>[2]</a:t>
            </a:r>
            <a:r>
              <a:rPr lang="en-US" sz="2000" dirty="0">
                <a:solidFill>
                  <a:srgbClr val="002060"/>
                </a:solidFill>
              </a:rPr>
              <a:t> </a:t>
            </a:r>
            <a:r>
              <a:rPr lang="en-US" sz="2000" dirty="0" err="1">
                <a:solidFill>
                  <a:srgbClr val="002060"/>
                </a:solidFill>
                <a:latin typeface="Times New Roman" panose="02020603050405020304" pitchFamily="18" charset="0"/>
                <a:cs typeface="Times New Roman" panose="02020603050405020304" pitchFamily="18" charset="0"/>
              </a:rPr>
              <a:t>Arth</a:t>
            </a:r>
            <a:r>
              <a:rPr lang="en-US" sz="2000" dirty="0">
                <a:solidFill>
                  <a:srgbClr val="002060"/>
                </a:solidFill>
                <a:latin typeface="Times New Roman" panose="02020603050405020304" pitchFamily="18" charset="0"/>
                <a:cs typeface="Times New Roman" panose="02020603050405020304" pitchFamily="18" charset="0"/>
              </a:rPr>
              <a:t>, C., </a:t>
            </a:r>
            <a:r>
              <a:rPr lang="en-US" sz="2000" dirty="0" err="1">
                <a:solidFill>
                  <a:srgbClr val="002060"/>
                </a:solidFill>
                <a:latin typeface="Times New Roman" panose="02020603050405020304" pitchFamily="18" charset="0"/>
                <a:cs typeface="Times New Roman" panose="02020603050405020304" pitchFamily="18" charset="0"/>
              </a:rPr>
              <a:t>Limberger</a:t>
            </a:r>
            <a:r>
              <a:rPr lang="en-US" sz="2000" dirty="0">
                <a:solidFill>
                  <a:srgbClr val="002060"/>
                </a:solidFill>
                <a:latin typeface="Times New Roman" panose="02020603050405020304" pitchFamily="18" charset="0"/>
                <a:cs typeface="Times New Roman" panose="02020603050405020304" pitchFamily="18" charset="0"/>
              </a:rPr>
              <a:t>, F., Bischof, H.: Real-time license plate recognition on an embedded </a:t>
            </a:r>
            <a:r>
              <a:rPr lang="en-US" sz="2000" dirty="0" err="1">
                <a:solidFill>
                  <a:srgbClr val="002060"/>
                </a:solidFill>
                <a:latin typeface="Times New Roman" panose="02020603050405020304" pitchFamily="18" charset="0"/>
                <a:cs typeface="Times New Roman" panose="02020603050405020304" pitchFamily="18" charset="0"/>
              </a:rPr>
              <a:t>dsp</a:t>
            </a:r>
            <a:r>
              <a:rPr lang="en-US" sz="2000" dirty="0">
                <a:solidFill>
                  <a:srgbClr val="002060"/>
                </a:solidFill>
                <a:latin typeface="Times New Roman" panose="02020603050405020304" pitchFamily="18" charset="0"/>
                <a:cs typeface="Times New Roman" panose="02020603050405020304" pitchFamily="18" charset="0"/>
              </a:rPr>
              <a:t>-platform. In: CVPR. (2007).</a:t>
            </a:r>
            <a:endParaRPr lang="en-IN" sz="2000" dirty="0">
              <a:solidFill>
                <a:srgbClr val="002060"/>
              </a:solidFill>
              <a:latin typeface="Times New Roman" panose="02020603050405020304" pitchFamily="18" charset="0"/>
              <a:cs typeface="Times New Roman" panose="02020603050405020304" pitchFamily="18" charset="0"/>
            </a:endParaRPr>
          </a:p>
          <a:p>
            <a:pPr marL="0" indent="0">
              <a:buNone/>
            </a:pPr>
            <a:r>
              <a:rPr lang="en-IN" sz="2000" dirty="0">
                <a:solidFill>
                  <a:srgbClr val="002060"/>
                </a:solidFill>
                <a:latin typeface="Times New Roman" panose="02020603050405020304" pitchFamily="18" charset="0"/>
                <a:cs typeface="Times New Roman" panose="02020603050405020304" pitchFamily="18" charset="0"/>
              </a:rPr>
              <a:t>[3]</a:t>
            </a:r>
            <a:r>
              <a:rPr lang="en-US" sz="2000" dirty="0">
                <a:solidFill>
                  <a:srgbClr val="002060"/>
                </a:solidFill>
                <a:latin typeface="Times New Roman" panose="02020603050405020304" pitchFamily="18" charset="0"/>
                <a:cs typeface="Times New Roman" panose="02020603050405020304" pitchFamily="18" charset="0"/>
              </a:rPr>
              <a:t> Yuan, Y., Zou, W., Zhao, Y., Wang, X., Hu, X., </a:t>
            </a:r>
            <a:r>
              <a:rPr lang="en-US" sz="2000" dirty="0" err="1">
                <a:solidFill>
                  <a:srgbClr val="002060"/>
                </a:solidFill>
                <a:latin typeface="Times New Roman" panose="02020603050405020304" pitchFamily="18" charset="0"/>
                <a:cs typeface="Times New Roman" panose="02020603050405020304" pitchFamily="18" charset="0"/>
              </a:rPr>
              <a:t>Komodakis</a:t>
            </a:r>
            <a:r>
              <a:rPr lang="en-US" sz="2000" dirty="0">
                <a:solidFill>
                  <a:srgbClr val="002060"/>
                </a:solidFill>
                <a:latin typeface="Times New Roman" panose="02020603050405020304" pitchFamily="18" charset="0"/>
                <a:cs typeface="Times New Roman" panose="02020603050405020304" pitchFamily="18" charset="0"/>
              </a:rPr>
              <a:t>, N.: A robust and efficient approach to license plate detection. In: IEEE Transactions on Image Processing. Volume 26. (2017).</a:t>
            </a:r>
          </a:p>
          <a:p>
            <a:pPr marL="0" indent="0">
              <a:buNone/>
            </a:pPr>
            <a:r>
              <a:rPr lang="en-US" sz="2000" dirty="0">
                <a:solidFill>
                  <a:srgbClr val="002060"/>
                </a:solidFill>
                <a:latin typeface="Times New Roman" panose="02020603050405020304" pitchFamily="18" charset="0"/>
                <a:cs typeface="Times New Roman" panose="02020603050405020304" pitchFamily="18" charset="0"/>
              </a:rPr>
              <a:t>[4] Du, S., Ibrahim, M., Shehata, M., Member, S., </a:t>
            </a:r>
            <a:r>
              <a:rPr lang="en-US" sz="2000" dirty="0" err="1">
                <a:solidFill>
                  <a:srgbClr val="002060"/>
                </a:solidFill>
                <a:latin typeface="Times New Roman" panose="02020603050405020304" pitchFamily="18" charset="0"/>
                <a:cs typeface="Times New Roman" panose="02020603050405020304" pitchFamily="18" charset="0"/>
              </a:rPr>
              <a:t>Badawy</a:t>
            </a:r>
            <a:r>
              <a:rPr lang="en-US" sz="2000" dirty="0">
                <a:solidFill>
                  <a:srgbClr val="002060"/>
                </a:solidFill>
                <a:latin typeface="Times New Roman" panose="02020603050405020304" pitchFamily="18" charset="0"/>
                <a:cs typeface="Times New Roman" panose="02020603050405020304" pitchFamily="18" charset="0"/>
              </a:rPr>
              <a:t>, W.: Automatic license plate recognition (</a:t>
            </a:r>
            <a:r>
              <a:rPr lang="en-US" sz="2000" dirty="0" err="1">
                <a:solidFill>
                  <a:srgbClr val="002060"/>
                </a:solidFill>
                <a:latin typeface="Times New Roman" panose="02020603050405020304" pitchFamily="18" charset="0"/>
                <a:cs typeface="Times New Roman" panose="02020603050405020304" pitchFamily="18" charset="0"/>
              </a:rPr>
              <a:t>alpr</a:t>
            </a:r>
            <a:r>
              <a:rPr lang="en-US" sz="2000" dirty="0">
                <a:solidFill>
                  <a:srgbClr val="002060"/>
                </a:solidFill>
                <a:latin typeface="Times New Roman" panose="02020603050405020304" pitchFamily="18" charset="0"/>
                <a:cs typeface="Times New Roman" panose="02020603050405020304" pitchFamily="18" charset="0"/>
              </a:rPr>
              <a:t>): A state-of-the-art review. In: IEEE Transactions on Circuits and Systems for Video Technology. Volume 23. (2013).</a:t>
            </a:r>
          </a:p>
          <a:p>
            <a:pPr marL="0" indent="0">
              <a:buNone/>
            </a:pPr>
            <a:r>
              <a:rPr lang="en-US" sz="2000" dirty="0">
                <a:solidFill>
                  <a:srgbClr val="002060"/>
                </a:solidFill>
                <a:latin typeface="Times New Roman" panose="02020603050405020304" pitchFamily="18" charset="0"/>
                <a:cs typeface="Times New Roman" panose="02020603050405020304" pitchFamily="18" charset="0"/>
              </a:rPr>
              <a:t>[5] Li, H., Shen, C.: Reading car license plates using deep convolutional neural networks and </a:t>
            </a:r>
            <a:r>
              <a:rPr lang="en-US" sz="2000" dirty="0" err="1">
                <a:solidFill>
                  <a:srgbClr val="002060"/>
                </a:solidFill>
                <a:latin typeface="Times New Roman" panose="02020603050405020304" pitchFamily="18" charset="0"/>
                <a:cs typeface="Times New Roman" panose="02020603050405020304" pitchFamily="18" charset="0"/>
              </a:rPr>
              <a:t>lstms</a:t>
            </a:r>
            <a:r>
              <a:rPr lang="en-US" sz="2000" dirty="0">
                <a:solidFill>
                  <a:srgbClr val="002060"/>
                </a:solidFill>
                <a:latin typeface="Times New Roman" panose="02020603050405020304" pitchFamily="18" charset="0"/>
                <a:cs typeface="Times New Roman" panose="02020603050405020304" pitchFamily="18" charset="0"/>
              </a:rPr>
              <a:t>. In: arXiv:1601.05610. (2016).</a:t>
            </a:r>
          </a:p>
          <a:p>
            <a:pPr marL="0" indent="0">
              <a:buNone/>
            </a:pPr>
            <a:r>
              <a:rPr lang="en-US" sz="2000" dirty="0">
                <a:solidFill>
                  <a:srgbClr val="002060"/>
                </a:solidFill>
                <a:latin typeface="Times New Roman" panose="02020603050405020304" pitchFamily="18" charset="0"/>
                <a:cs typeface="Times New Roman" panose="02020603050405020304" pitchFamily="18" charset="0"/>
              </a:rPr>
              <a:t>[6]</a:t>
            </a:r>
            <a:r>
              <a:rPr lang="en-IN" sz="2000" dirty="0">
                <a:solidFill>
                  <a:srgbClr val="002060"/>
                </a:solidFill>
                <a:latin typeface="Times New Roman" panose="02020603050405020304" pitchFamily="18" charset="0"/>
                <a:cs typeface="Times New Roman" panose="02020603050405020304" pitchFamily="18" charset="0"/>
              </a:rPr>
              <a:t> </a:t>
            </a:r>
            <a:r>
              <a:rPr lang="en-IN" sz="2000" dirty="0" err="1">
                <a:solidFill>
                  <a:srgbClr val="002060"/>
                </a:solidFill>
                <a:latin typeface="Times New Roman" panose="02020603050405020304" pitchFamily="18" charset="0"/>
                <a:cs typeface="Times New Roman" panose="02020603050405020304" pitchFamily="18" charset="0"/>
              </a:rPr>
              <a:t>Cheang</a:t>
            </a:r>
            <a:r>
              <a:rPr lang="en-IN" sz="2000" dirty="0">
                <a:solidFill>
                  <a:srgbClr val="002060"/>
                </a:solidFill>
                <a:latin typeface="Times New Roman" panose="02020603050405020304" pitchFamily="18" charset="0"/>
                <a:cs typeface="Times New Roman" panose="02020603050405020304" pitchFamily="18" charset="0"/>
              </a:rPr>
              <a:t>, T.K., Chong, Y.S., Tay, Y.H.: Segmentation-free vehicle license plate recognition using convnet-</a:t>
            </a:r>
            <a:r>
              <a:rPr lang="en-IN" sz="2000" dirty="0" err="1">
                <a:solidFill>
                  <a:srgbClr val="002060"/>
                </a:solidFill>
                <a:latin typeface="Times New Roman" panose="02020603050405020304" pitchFamily="18" charset="0"/>
                <a:cs typeface="Times New Roman" panose="02020603050405020304" pitchFamily="18" charset="0"/>
              </a:rPr>
              <a:t>rnn</a:t>
            </a:r>
            <a:r>
              <a:rPr lang="en-IN" sz="2000" dirty="0">
                <a:solidFill>
                  <a:srgbClr val="002060"/>
                </a:solidFill>
                <a:latin typeface="Times New Roman" panose="02020603050405020304" pitchFamily="18" charset="0"/>
                <a:cs typeface="Times New Roman" panose="02020603050405020304" pitchFamily="18" charset="0"/>
              </a:rPr>
              <a:t>. (2017).</a:t>
            </a:r>
          </a:p>
        </p:txBody>
      </p:sp>
      <p:pic>
        <p:nvPicPr>
          <p:cNvPr id="6"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4077" y="0"/>
            <a:ext cx="2835142" cy="1293223"/>
          </a:xfrm>
          <a:prstGeom prst="rect">
            <a:avLst/>
          </a:prstGeom>
        </p:spPr>
      </p:pic>
      <p:sp>
        <p:nvSpPr>
          <p:cNvPr id="9" name="Rectangle 8"/>
          <p:cNvSpPr/>
          <p:nvPr/>
        </p:nvSpPr>
        <p:spPr>
          <a:xfrm>
            <a:off x="483324" y="1244062"/>
            <a:ext cx="11194869" cy="45719"/>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Content Placeholder 3"/>
          <p:cNvSpPr txBox="1">
            <a:spLocks/>
          </p:cNvSpPr>
          <p:nvPr/>
        </p:nvSpPr>
        <p:spPr>
          <a:xfrm>
            <a:off x="509336" y="1508960"/>
            <a:ext cx="11209421" cy="50121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2400" dirty="0"/>
              <a:t>References</a:t>
            </a:r>
            <a:endParaRPr lang="en-IN" dirty="0">
              <a:solidFill>
                <a:srgbClr val="002060"/>
              </a:solidFill>
            </a:endParaRPr>
          </a:p>
        </p:txBody>
      </p:sp>
      <p:pic>
        <p:nvPicPr>
          <p:cNvPr id="10" name="Picture 9">
            <a:extLst>
              <a:ext uri="{FF2B5EF4-FFF2-40B4-BE49-F238E27FC236}">
                <a16:creationId xmlns:a16="http://schemas.microsoft.com/office/drawing/2014/main" id="{53C35A98-2567-4955-A64E-70928A05AD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177" y="-27257"/>
            <a:ext cx="2835142" cy="1285467"/>
          </a:xfrm>
          <a:prstGeom prst="rect">
            <a:avLst/>
          </a:prstGeom>
        </p:spPr>
      </p:pic>
      <p:pic>
        <p:nvPicPr>
          <p:cNvPr id="12" name="Picture 11">
            <a:extLst>
              <a:ext uri="{FF2B5EF4-FFF2-40B4-BE49-F238E27FC236}">
                <a16:creationId xmlns:a16="http://schemas.microsoft.com/office/drawing/2014/main" id="{D2E401F7-E273-4D51-8AB9-4D27F798C8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74282" y="48659"/>
            <a:ext cx="2135541" cy="1195903"/>
          </a:xfrm>
          <a:prstGeom prst="rect">
            <a:avLst/>
          </a:prstGeom>
        </p:spPr>
      </p:pic>
      <p:pic>
        <p:nvPicPr>
          <p:cNvPr id="13" name="Picture 12">
            <a:extLst>
              <a:ext uri="{FF2B5EF4-FFF2-40B4-BE49-F238E27FC236}">
                <a16:creationId xmlns:a16="http://schemas.microsoft.com/office/drawing/2014/main" id="{7B8EB4D0-39F7-4A48-9820-F81D0F9CF13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72251" y="60604"/>
            <a:ext cx="1197606" cy="1197606"/>
          </a:xfrm>
          <a:prstGeom prst="rect">
            <a:avLst/>
          </a:prstGeom>
        </p:spPr>
      </p:pic>
    </p:spTree>
    <p:extLst>
      <p:ext uri="{BB962C8B-B14F-4D97-AF65-F5344CB8AC3E}">
        <p14:creationId xmlns:p14="http://schemas.microsoft.com/office/powerpoint/2010/main" val="12171717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IN" dirty="0"/>
            </a:br>
            <a:endParaRPr lang="en-IN" dirty="0"/>
          </a:p>
        </p:txBody>
      </p:sp>
      <p:sp>
        <p:nvSpPr>
          <p:cNvPr id="3" name="Content Placeholder 2"/>
          <p:cNvSpPr>
            <a:spLocks noGrp="1"/>
          </p:cNvSpPr>
          <p:nvPr>
            <p:ph idx="1"/>
          </p:nvPr>
        </p:nvSpPr>
        <p:spPr>
          <a:xfrm>
            <a:off x="252663" y="1825624"/>
            <a:ext cx="11634537" cy="4683459"/>
          </a:xfrm>
        </p:spPr>
        <p:txBody>
          <a:bodyPr/>
          <a:lstStyle/>
          <a:p>
            <a:pPr marL="0" indent="0">
              <a:buNone/>
            </a:pPr>
            <a:endParaRPr lang="en-IN" dirty="0"/>
          </a:p>
          <a:p>
            <a:pPr marL="0" indent="0">
              <a:buNone/>
            </a:pPr>
            <a:endParaRPr lang="en-IN" dirty="0"/>
          </a:p>
        </p:txBody>
      </p:sp>
      <p:pic>
        <p:nvPicPr>
          <p:cNvPr id="6"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4077" y="0"/>
            <a:ext cx="2835142" cy="1293223"/>
          </a:xfrm>
          <a:prstGeom prst="rect">
            <a:avLst/>
          </a:prstGeom>
        </p:spPr>
      </p:pic>
      <p:sp>
        <p:nvSpPr>
          <p:cNvPr id="9" name="Rectangle 8"/>
          <p:cNvSpPr/>
          <p:nvPr/>
        </p:nvSpPr>
        <p:spPr>
          <a:xfrm>
            <a:off x="483324" y="1244062"/>
            <a:ext cx="11194869" cy="45719"/>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p:cNvSpPr/>
          <p:nvPr/>
        </p:nvSpPr>
        <p:spPr>
          <a:xfrm>
            <a:off x="3520479" y="1824608"/>
            <a:ext cx="4745216" cy="1107996"/>
          </a:xfrm>
          <a:prstGeom prst="rect">
            <a:avLst/>
          </a:prstGeom>
        </p:spPr>
        <p:txBody>
          <a:bodyPr wrap="square">
            <a:spAutoFit/>
          </a:bodyPr>
          <a:lstStyle/>
          <a:p>
            <a:pPr algn="ctr"/>
            <a:r>
              <a:rPr lang="en-IN" sz="6600" b="1" dirty="0">
                <a:solidFill>
                  <a:srgbClr val="002060"/>
                </a:solidFill>
              </a:rPr>
              <a:t>THANK YOU</a:t>
            </a:r>
          </a:p>
        </p:txBody>
      </p:sp>
      <p:pic>
        <p:nvPicPr>
          <p:cNvPr id="12" name="Picture 11">
            <a:extLst>
              <a:ext uri="{FF2B5EF4-FFF2-40B4-BE49-F238E27FC236}">
                <a16:creationId xmlns:a16="http://schemas.microsoft.com/office/drawing/2014/main" id="{1311CA71-FE7A-43DB-8346-7DF41F09E3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177" y="-27257"/>
            <a:ext cx="2835142" cy="1285467"/>
          </a:xfrm>
          <a:prstGeom prst="rect">
            <a:avLst/>
          </a:prstGeom>
        </p:spPr>
      </p:pic>
      <p:pic>
        <p:nvPicPr>
          <p:cNvPr id="14" name="Picture 13">
            <a:extLst>
              <a:ext uri="{FF2B5EF4-FFF2-40B4-BE49-F238E27FC236}">
                <a16:creationId xmlns:a16="http://schemas.microsoft.com/office/drawing/2014/main" id="{4E1B46E0-49E4-4F6F-8D83-170DAFB36B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74282" y="48659"/>
            <a:ext cx="2135541" cy="1195903"/>
          </a:xfrm>
          <a:prstGeom prst="rect">
            <a:avLst/>
          </a:prstGeom>
        </p:spPr>
      </p:pic>
      <p:pic>
        <p:nvPicPr>
          <p:cNvPr id="15" name="Picture 14">
            <a:extLst>
              <a:ext uri="{FF2B5EF4-FFF2-40B4-BE49-F238E27FC236}">
                <a16:creationId xmlns:a16="http://schemas.microsoft.com/office/drawing/2014/main" id="{FD9CE7AB-C3AF-4524-9253-594B568798F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72251" y="60604"/>
            <a:ext cx="1197606" cy="1197606"/>
          </a:xfrm>
          <a:prstGeom prst="rect">
            <a:avLst/>
          </a:prstGeom>
        </p:spPr>
      </p:pic>
    </p:spTree>
    <p:extLst>
      <p:ext uri="{BB962C8B-B14F-4D97-AF65-F5344CB8AC3E}">
        <p14:creationId xmlns:p14="http://schemas.microsoft.com/office/powerpoint/2010/main" val="4270516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IN" dirty="0"/>
            </a:br>
            <a:endParaRPr lang="en-IN" dirty="0"/>
          </a:p>
        </p:txBody>
      </p:sp>
      <p:sp>
        <p:nvSpPr>
          <p:cNvPr id="3" name="Content Placeholder 2"/>
          <p:cNvSpPr>
            <a:spLocks noGrp="1"/>
          </p:cNvSpPr>
          <p:nvPr>
            <p:ph idx="1"/>
          </p:nvPr>
        </p:nvSpPr>
        <p:spPr>
          <a:xfrm>
            <a:off x="240632" y="2186572"/>
            <a:ext cx="11766884" cy="3757029"/>
          </a:xfrm>
        </p:spPr>
        <p:txBody>
          <a:bodyPr>
            <a:normAutofit/>
          </a:bodyPr>
          <a:lstStyle/>
          <a:p>
            <a:pPr>
              <a:buFont typeface="Wingdings" panose="05000000000000000000" pitchFamily="2" charset="2"/>
              <a:buChar char="Ø"/>
            </a:pPr>
            <a:r>
              <a:rPr lang="en-IN" sz="2400" dirty="0">
                <a:solidFill>
                  <a:srgbClr val="680000"/>
                </a:solidFill>
              </a:rPr>
              <a:t>Not more than 12 slides</a:t>
            </a:r>
          </a:p>
          <a:p>
            <a:pPr>
              <a:buFont typeface="Wingdings" panose="05000000000000000000" pitchFamily="2" charset="2"/>
              <a:buChar char="Ø"/>
            </a:pPr>
            <a:r>
              <a:rPr lang="en-IN" sz="2400" dirty="0">
                <a:solidFill>
                  <a:srgbClr val="680000"/>
                </a:solidFill>
              </a:rPr>
              <a:t>Do not give any theoretical fundamentals.</a:t>
            </a:r>
          </a:p>
          <a:p>
            <a:pPr>
              <a:buFont typeface="Wingdings" panose="05000000000000000000" pitchFamily="2" charset="2"/>
              <a:buChar char="Ø"/>
            </a:pPr>
            <a:r>
              <a:rPr lang="en-US" sz="2400" dirty="0">
                <a:solidFill>
                  <a:srgbClr val="680000"/>
                </a:solidFill>
              </a:rPr>
              <a:t>Illustrate with suitable  means such as Drawings, examples, algorithms, flow chart </a:t>
            </a:r>
            <a:r>
              <a:rPr lang="en-US" sz="2400" dirty="0" err="1">
                <a:solidFill>
                  <a:srgbClr val="680000"/>
                </a:solidFill>
              </a:rPr>
              <a:t>etc</a:t>
            </a:r>
            <a:endParaRPr lang="en-US" sz="2400" dirty="0">
              <a:solidFill>
                <a:srgbClr val="680000"/>
              </a:solidFill>
            </a:endParaRPr>
          </a:p>
          <a:p>
            <a:pPr>
              <a:buFont typeface="Wingdings" panose="05000000000000000000" pitchFamily="2" charset="2"/>
              <a:buChar char="Ø"/>
            </a:pPr>
            <a:r>
              <a:rPr lang="en-IN" sz="2400" dirty="0">
                <a:solidFill>
                  <a:srgbClr val="680000"/>
                </a:solidFill>
              </a:rPr>
              <a:t>Use consistent  format</a:t>
            </a:r>
          </a:p>
          <a:p>
            <a:pPr>
              <a:buFont typeface="Wingdings" panose="05000000000000000000" pitchFamily="2" charset="2"/>
              <a:buChar char="Ø"/>
            </a:pPr>
            <a:r>
              <a:rPr lang="en-US" sz="2400" dirty="0">
                <a:solidFill>
                  <a:srgbClr val="680000"/>
                </a:solidFill>
              </a:rPr>
              <a:t>Check for spelling and grammar – ensure no errors (spell check) </a:t>
            </a:r>
          </a:p>
          <a:p>
            <a:pPr>
              <a:buFont typeface="Wingdings" panose="05000000000000000000" pitchFamily="2" charset="2"/>
              <a:buChar char="Ø"/>
            </a:pPr>
            <a:r>
              <a:rPr lang="en-US" sz="2400" dirty="0">
                <a:solidFill>
                  <a:srgbClr val="680000"/>
                </a:solidFill>
              </a:rPr>
              <a:t>Highlight the major advantages of the  technique/method  proposed when compared with other techniques or  conventional techniques</a:t>
            </a:r>
            <a:endParaRPr lang="en-IN" sz="2400" dirty="0">
              <a:solidFill>
                <a:srgbClr val="680000"/>
              </a:solidFill>
            </a:endParaRPr>
          </a:p>
          <a:p>
            <a:pPr>
              <a:buFont typeface="Wingdings" panose="05000000000000000000" pitchFamily="2" charset="2"/>
              <a:buChar char="Ø"/>
            </a:pPr>
            <a:r>
              <a:rPr lang="en-IN" sz="2400" dirty="0">
                <a:solidFill>
                  <a:srgbClr val="680000"/>
                </a:solidFill>
              </a:rPr>
              <a:t>PPT file name should be your team name.</a:t>
            </a:r>
            <a:endParaRPr lang="en-IN" sz="2000" dirty="0">
              <a:solidFill>
                <a:srgbClr val="680000"/>
              </a:solidFill>
            </a:endParaRPr>
          </a:p>
          <a:p>
            <a:pPr marL="0" indent="0">
              <a:buNone/>
            </a:pPr>
            <a:endParaRPr lang="en-IN" dirty="0"/>
          </a:p>
        </p:txBody>
      </p:sp>
      <p:pic>
        <p:nvPicPr>
          <p:cNvPr id="6"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4077" y="0"/>
            <a:ext cx="2835142" cy="1293223"/>
          </a:xfrm>
          <a:prstGeom prst="rect">
            <a:avLst/>
          </a:prstGeom>
        </p:spPr>
      </p:pic>
      <p:sp>
        <p:nvSpPr>
          <p:cNvPr id="9" name="Rectangle 8"/>
          <p:cNvSpPr/>
          <p:nvPr/>
        </p:nvSpPr>
        <p:spPr>
          <a:xfrm>
            <a:off x="483324" y="1244062"/>
            <a:ext cx="11194869" cy="45719"/>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512847" y="1499755"/>
            <a:ext cx="2040623" cy="523220"/>
          </a:xfrm>
          <a:prstGeom prst="rect">
            <a:avLst/>
          </a:prstGeom>
        </p:spPr>
        <p:txBody>
          <a:bodyPr wrap="none">
            <a:spAutoFit/>
          </a:bodyPr>
          <a:lstStyle/>
          <a:p>
            <a:r>
              <a:rPr lang="en-IN" sz="2800" b="1" dirty="0">
                <a:solidFill>
                  <a:srgbClr val="002060"/>
                </a:solidFill>
              </a:rPr>
              <a:t>GUIDELINES</a:t>
            </a:r>
            <a:r>
              <a:rPr lang="en-IN" sz="2400" b="1" dirty="0"/>
              <a:t> </a:t>
            </a:r>
          </a:p>
        </p:txBody>
      </p:sp>
      <p:pic>
        <p:nvPicPr>
          <p:cNvPr id="11" name="Picture 10">
            <a:extLst>
              <a:ext uri="{FF2B5EF4-FFF2-40B4-BE49-F238E27FC236}">
                <a16:creationId xmlns:a16="http://schemas.microsoft.com/office/drawing/2014/main" id="{1C6B15BF-03EF-4FB6-8EE1-C63A9F7F4F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177" y="-27257"/>
            <a:ext cx="2835142" cy="1285467"/>
          </a:xfrm>
          <a:prstGeom prst="rect">
            <a:avLst/>
          </a:prstGeom>
        </p:spPr>
      </p:pic>
      <p:pic>
        <p:nvPicPr>
          <p:cNvPr id="13" name="Picture 12">
            <a:extLst>
              <a:ext uri="{FF2B5EF4-FFF2-40B4-BE49-F238E27FC236}">
                <a16:creationId xmlns:a16="http://schemas.microsoft.com/office/drawing/2014/main" id="{17A2AB32-4E1D-4EC8-8EA4-B02CCE7167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74282" y="48659"/>
            <a:ext cx="2135541" cy="1195903"/>
          </a:xfrm>
          <a:prstGeom prst="rect">
            <a:avLst/>
          </a:prstGeom>
        </p:spPr>
      </p:pic>
      <p:pic>
        <p:nvPicPr>
          <p:cNvPr id="14" name="Picture 13">
            <a:extLst>
              <a:ext uri="{FF2B5EF4-FFF2-40B4-BE49-F238E27FC236}">
                <a16:creationId xmlns:a16="http://schemas.microsoft.com/office/drawing/2014/main" id="{3DA8B8EE-A24F-4C09-B812-740396A4E80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72251" y="60604"/>
            <a:ext cx="1197606" cy="1197606"/>
          </a:xfrm>
          <a:prstGeom prst="rect">
            <a:avLst/>
          </a:prstGeom>
        </p:spPr>
      </p:pic>
    </p:spTree>
    <p:extLst>
      <p:ext uri="{BB962C8B-B14F-4D97-AF65-F5344CB8AC3E}">
        <p14:creationId xmlns:p14="http://schemas.microsoft.com/office/powerpoint/2010/main" val="33210137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611</TotalTime>
  <Words>1095</Words>
  <Application>Microsoft Office PowerPoint</Application>
  <PresentationFormat>Widescreen</PresentationFormat>
  <Paragraphs>121</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Gill Sans MT</vt:lpstr>
      <vt:lpstr>Times New Roman</vt:lpstr>
      <vt:lpstr>Wingdings</vt:lpstr>
      <vt:lpstr>Office Theme</vt:lpstr>
      <vt:lpstr> </vt:lpstr>
      <vt:lpstr> </vt:lpstr>
      <vt:lpstr> </vt:lpstr>
      <vt:lpstr> </vt:lpstr>
      <vt:lpstr> </vt:lpstr>
      <vt:lpstr> </vt:lpstr>
      <vt:lpstr> </vt:lpstr>
      <vt:lpstr> </vt:lpstr>
      <vt:lpstr> </vt:lpstr>
      <vt:lpstr> </vt:lpstr>
      <vt:lpstr> </vt:lpstr>
      <vt:lpstr> </vt:lpstr>
      <vt:lpstr>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VELTECH</dc:creator>
  <cp:lastModifiedBy>S PAVITHRAN</cp:lastModifiedBy>
  <cp:revision>30</cp:revision>
  <dcterms:created xsi:type="dcterms:W3CDTF">2022-01-19T10:20:54Z</dcterms:created>
  <dcterms:modified xsi:type="dcterms:W3CDTF">2022-03-10T08:55:00Z</dcterms:modified>
</cp:coreProperties>
</file>